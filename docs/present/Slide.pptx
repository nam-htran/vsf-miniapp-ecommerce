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70" r:id="rId5"/>
    <p:sldId id="260" r:id="rId6"/>
    <p:sldId id="262" r:id="rId7"/>
    <p:sldId id="267" r:id="rId8"/>
    <p:sldId id="272" r:id="rId9"/>
    <p:sldId id="268" r:id="rId10"/>
    <p:sldId id="269" r:id="rId11"/>
    <p:sldId id="263" r:id="rId12"/>
    <p:sldId id="273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269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bằng pattern chung, không mở bằng “Generative Retrieval”. Phần lớn hệ retrieval đều biến query/item/history/graph/behavior thành một representation rồi mới search/generate.</a:t>
            </a:r>
          </a:p>
          <a:p>
            <a:r>
              <a:t>TIGER và GR4AD đi theo discrete Semantic ID; LightSAGE giữ dense vector + ANN.</a:t>
            </a:r>
          </a:p>
          <a:p>
            <a:r>
              <a:t>Các vấn đề lặp lại: cold-start, long-tail, semantic vs behavioral signal, catalog freshness, latency/QPS và business value.</a:t>
            </a:r>
          </a:p>
          <a:p>
            <a:r>
              <a:t>Main path hôm nay: TIGER đặt nền, GR4AD là phần chính.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TIGER quan trọng nhất. Chỉ cần audience nhớ: history in → SID out → lookup item.
Nhấn mạnh Semantic ID có nghĩa hơn atomic ID, nên similar items có thể share prefix.
Nếu có câu hỏi cold-start: semantic content giúp item mới có representation ngay cả khi ít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RQ-VAE bằng ngôn ngữ compression: vector liên tục → vài code discrete theo nhiều level.
Không giải loss. Chỉ nói mỗi level sửa residual còn lại, nên code có tính coarse-to-fine.
Collision: paper append thêm token nếu nhiều item có cùng 3-tuple; chỉ nói nếu bị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điểm chuyển sang GR4AD: concept rất đẹp, nhưng production ads có nhiều yêu cầu hơn.
Không cần nói beam math. Beam chỉ giữ nhiều partial SID để lấy top-K candidate.
TIGER model paper dùng encoder-decoder, nhưng về concept generative retrieval không phụ thuộc đúng backbone đó.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UA-SID: semantic + collaborative/business signals; final code có hash cho non-semantic business info.
LazyAR: point cần nói là giảm sequential dependency, không cần đi vào layer formula.
VSL/RSPO: VSL học từ log có weight theo value; RSPO align cả ranked list với business reward.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F8EC-A404-CF3C-42BB-FD771842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136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dễ nói nhất với SE: compute budget, QPS, latency, caching, dynamic beam.
Progressive beam example paper: 128→256→512. Table appendix reports +45% QPS with ~-0.15% revenue vs fixed 512.
Headline result from abstract/deployment: up to +4.2% ad revenue, &lt;100ms, 500+ QPS/L20, 400M+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slide này như counterpoint: generative không tự động thắng mọi bài toán.
LightSAGE production insight: graph quality + long-tail handling quan trọng hơn việc chỉ đổi architecture.
Nếu muốn nối lại theme: representation là vector embedding; retrieval mechanism vẫn là 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4399C4-FF93-2DB0-5B86-6A849D8AF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7" y="149290"/>
            <a:ext cx="11908166" cy="6705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5BFC5F-21D6-106A-1507-CE769E81D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0028"/>
            <a:ext cx="4763588" cy="3368827"/>
          </a:xfrm>
          <a:prstGeom prst="rect">
            <a:avLst/>
          </a:prstGeom>
        </p:spPr>
      </p:pic>
      <p:pic>
        <p:nvPicPr>
          <p:cNvPr id="26" name="Picture 25" descr="TIGER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87" y="1240028"/>
            <a:ext cx="5236341" cy="23928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0870" y="295606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vi-VN" sz="2400" b="1" dirty="0">
                <a:solidFill>
                  <a:srgbClr val="192C4F"/>
                </a:solidFill>
                <a:latin typeface="Aptos"/>
              </a:rPr>
              <a:t>TIGER: Semantic ID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— </a:t>
            </a:r>
            <a:r>
              <a:rPr sz="2400" b="1" dirty="0" err="1">
                <a:solidFill>
                  <a:srgbClr val="192C4F"/>
                </a:solidFill>
                <a:latin typeface="Aptos"/>
              </a:rPr>
              <a:t>Biến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retrieval </a:t>
            </a:r>
            <a:r>
              <a:rPr sz="2400" b="1" dirty="0" err="1">
                <a:solidFill>
                  <a:srgbClr val="192C4F"/>
                </a:solidFill>
                <a:latin typeface="Aptos"/>
              </a:rPr>
              <a:t>thành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92C4F"/>
                </a:solidFill>
                <a:latin typeface="Aptos"/>
              </a:rPr>
              <a:t>bài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92C4F"/>
                </a:solidFill>
                <a:latin typeface="Aptos"/>
              </a:rPr>
              <a:t>toán</a:t>
            </a:r>
            <a:r>
              <a:rPr sz="2400" b="1" dirty="0">
                <a:solidFill>
                  <a:srgbClr val="192C4F"/>
                </a:solidFill>
                <a:latin typeface="Aptos"/>
              </a:rPr>
              <a:t>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870" y="764540"/>
            <a:ext cx="10881360" cy="3000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dirty="0">
                <a:solidFill>
                  <a:srgbClr val="676F7B"/>
                </a:solidFill>
                <a:latin typeface="Aptos"/>
              </a:rPr>
              <a:t>Thay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vì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tìm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vector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gần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nhất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bằng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ANN, model </a:t>
            </a:r>
            <a:r>
              <a:rPr lang="vi-VN" sz="1350" b="0" dirty="0">
                <a:solidFill>
                  <a:srgbClr val="676F7B"/>
                </a:solidFill>
                <a:latin typeface="Aptos"/>
              </a:rPr>
              <a:t>sinh/phân loại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trực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tiếp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Semantic ID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của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item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tiếp</a:t>
            </a:r>
            <a:r>
              <a:rPr sz="1350" b="0" dirty="0">
                <a:solidFill>
                  <a:srgbClr val="676F7B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676F7B"/>
                </a:solidFill>
                <a:latin typeface="Aptos"/>
              </a:rPr>
              <a:t>theo.</a:t>
            </a:r>
            <a:endParaRPr sz="1350" b="0" dirty="0">
              <a:solidFill>
                <a:srgbClr val="676F7B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2791" y="6395939"/>
            <a:ext cx="11349134" cy="28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B3341"/>
                </a:solidFill>
                <a:latin typeface="Aptos"/>
              </a:defRPr>
            </a:pPr>
            <a:r>
              <a:rPr lang="en-US" sz="1200" dirty="0"/>
              <a:t>RQ-VAE </a:t>
            </a: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cách</a:t>
            </a:r>
            <a:r>
              <a:rPr lang="en-US" sz="1200" dirty="0"/>
              <a:t> TIGER </a:t>
            </a:r>
            <a:r>
              <a:rPr lang="en-US" sz="1200" dirty="0" err="1"/>
              <a:t>tạo</a:t>
            </a:r>
            <a:r>
              <a:rPr lang="en-US" sz="1200" dirty="0"/>
              <a:t> Semantic ID </a:t>
            </a:r>
            <a:r>
              <a:rPr lang="en-US" sz="1200" dirty="0" err="1"/>
              <a:t>sao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item </a:t>
            </a:r>
            <a:r>
              <a:rPr lang="en-US" sz="1200" dirty="0" err="1"/>
              <a:t>gần</a:t>
            </a:r>
            <a:r>
              <a:rPr lang="en-US" sz="1200" dirty="0"/>
              <a:t> </a:t>
            </a:r>
            <a:r>
              <a:rPr lang="en-US" sz="1200" dirty="0" err="1"/>
              <a:t>nhau</a:t>
            </a:r>
            <a:r>
              <a:rPr lang="en-US" sz="1200" dirty="0"/>
              <a:t> </a:t>
            </a:r>
            <a:r>
              <a:rPr lang="en-US" sz="1200" dirty="0" err="1"/>
              <a:t>trong</a:t>
            </a:r>
            <a:r>
              <a:rPr lang="en-US" sz="1200" dirty="0"/>
              <a:t> embedding space </a:t>
            </a:r>
            <a:r>
              <a:rPr lang="en-US" sz="1200" dirty="0" err="1"/>
              <a:t>có</a:t>
            </a:r>
            <a:r>
              <a:rPr lang="en-US" sz="1200" dirty="0"/>
              <a:t> SID </a:t>
            </a:r>
            <a:r>
              <a:rPr lang="en-US" sz="1200" dirty="0" err="1"/>
              <a:t>gần</a:t>
            </a:r>
            <a:r>
              <a:rPr lang="en-US" sz="1200" dirty="0"/>
              <a:t> </a:t>
            </a:r>
            <a:r>
              <a:rPr lang="en-US" sz="1200" dirty="0" err="1"/>
              <a:t>nhau</a:t>
            </a:r>
            <a:r>
              <a:rPr lang="en-US" sz="1200" dirty="0"/>
              <a:t>, </a:t>
            </a:r>
            <a:r>
              <a:rPr lang="en-US" sz="1200" dirty="0" err="1"/>
              <a:t>theo</a:t>
            </a:r>
            <a:r>
              <a:rPr lang="en-US" sz="1200" dirty="0"/>
              <a:t> </a:t>
            </a:r>
            <a:r>
              <a:rPr lang="en-US" sz="1200" dirty="0" err="1"/>
              <a:t>cấu</a:t>
            </a:r>
            <a:r>
              <a:rPr lang="en-US" sz="1200" dirty="0"/>
              <a:t> </a:t>
            </a:r>
            <a:r>
              <a:rPr lang="en-US" sz="1200" dirty="0" err="1"/>
              <a:t>trúc</a:t>
            </a:r>
            <a:r>
              <a:rPr lang="en-US" sz="1200" dirty="0"/>
              <a:t> </a:t>
            </a:r>
            <a:r>
              <a:rPr lang="vi-VN" sz="1200" dirty="0"/>
              <a:t>SID level thưa tới chi tiết: coarse -&gt; fine</a:t>
            </a:r>
            <a:endParaRPr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4C007-68EE-62E9-92BC-D115AB0845C0}"/>
              </a:ext>
            </a:extLst>
          </p:cNvPr>
          <p:cNvSpPr txBox="1"/>
          <p:nvPr/>
        </p:nvSpPr>
        <p:spPr>
          <a:xfrm>
            <a:off x="10930454" y="2436446"/>
            <a:ext cx="10039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50">
                <a:solidFill>
                  <a:srgbClr val="2B3341"/>
                </a:solidFill>
                <a:latin typeface="Aptos"/>
              </a:defRPr>
            </a:pPr>
            <a:r>
              <a:rPr lang="vi-VN" sz="1200" dirty="0"/>
              <a:t>Hơi giống: K-Mean</a:t>
            </a:r>
            <a:endParaRPr sz="1200" dirty="0"/>
          </a:p>
        </p:txBody>
      </p:sp>
      <p:pic>
        <p:nvPicPr>
          <p:cNvPr id="7" name="Image 0" descr="/mnt/data/tiger_semantic_id_cropped.png">
            <a:extLst>
              <a:ext uri="{FF2B5EF4-FFF2-40B4-BE49-F238E27FC236}">
                <a16:creationId xmlns:a16="http://schemas.microsoft.com/office/drawing/2014/main" id="{3C9DE774-4421-E795-186A-A019B9DCF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87" y="3942065"/>
            <a:ext cx="5236342" cy="21064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9E73D6-E30C-1CE8-E400-620A248EA18A}"/>
              </a:ext>
            </a:extLst>
          </p:cNvPr>
          <p:cNvSpPr txBox="1"/>
          <p:nvPr/>
        </p:nvSpPr>
        <p:spPr>
          <a:xfrm>
            <a:off x="6337816" y="4663507"/>
            <a:ext cx="46629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Item </a:t>
            </a:r>
            <a:r>
              <a:rPr lang="en-US" sz="1400" dirty="0" err="1"/>
              <a:t>tương</a:t>
            </a:r>
            <a:r>
              <a:rPr lang="en-US" sz="1400" dirty="0"/>
              <a:t> </a:t>
            </a:r>
            <a:r>
              <a:rPr lang="en-US" sz="1400" dirty="0" err="1"/>
              <a:t>tự</a:t>
            </a:r>
            <a:r>
              <a:rPr lang="en-US" sz="1400" dirty="0"/>
              <a:t> → </a:t>
            </a:r>
            <a:r>
              <a:rPr lang="en-US" sz="1400" b="1" dirty="0" err="1"/>
              <a:t>có</a:t>
            </a:r>
            <a:r>
              <a:rPr lang="en-US" sz="1400" b="1" dirty="0"/>
              <a:t> </a:t>
            </a:r>
            <a:r>
              <a:rPr lang="en-US" sz="1400" b="1" dirty="0" err="1"/>
              <a:t>thể</a:t>
            </a:r>
            <a:r>
              <a:rPr lang="en-US" sz="1400" b="1" dirty="0"/>
              <a:t> share </a:t>
            </a:r>
            <a:r>
              <a:rPr lang="en-US" sz="1400" b="1" dirty="0" err="1"/>
              <a:t>một</a:t>
            </a:r>
            <a:r>
              <a:rPr lang="en-US" sz="1400" b="1" dirty="0"/>
              <a:t> </a:t>
            </a:r>
            <a:r>
              <a:rPr lang="en-US" sz="1400" b="1" dirty="0" err="1"/>
              <a:t>phần</a:t>
            </a:r>
            <a:r>
              <a:rPr lang="en-US" sz="1400" b="1" dirty="0"/>
              <a:t> SID</a:t>
            </a:r>
            <a:r>
              <a:rPr lang="en-US" sz="1400" dirty="0"/>
              <a:t> → chia </a:t>
            </a:r>
            <a:r>
              <a:rPr lang="en-US" sz="1400" dirty="0" err="1"/>
              <a:t>sẻ</a:t>
            </a:r>
            <a:r>
              <a:rPr lang="en-US" sz="1400" dirty="0"/>
              <a:t> knowledge.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SID </a:t>
            </a:r>
            <a:r>
              <a:rPr lang="en-US" sz="1400" dirty="0" err="1"/>
              <a:t>sinh</a:t>
            </a:r>
            <a:r>
              <a:rPr lang="en-US" sz="1400" dirty="0"/>
              <a:t> </a:t>
            </a:r>
            <a:r>
              <a:rPr lang="en-US" sz="1400" dirty="0" err="1"/>
              <a:t>từ</a:t>
            </a:r>
            <a:r>
              <a:rPr lang="en-US" sz="1400" dirty="0"/>
              <a:t> </a:t>
            </a:r>
            <a:r>
              <a:rPr lang="en-US" sz="1400" b="1" dirty="0"/>
              <a:t>item content</a:t>
            </a:r>
            <a:r>
              <a:rPr lang="en-US" sz="1400" dirty="0"/>
              <a:t> → </a:t>
            </a:r>
            <a:r>
              <a:rPr lang="en-US" sz="1400" dirty="0" err="1"/>
              <a:t>hỗ</a:t>
            </a:r>
            <a:r>
              <a:rPr lang="en-US" sz="1400" dirty="0"/>
              <a:t> </a:t>
            </a:r>
            <a:r>
              <a:rPr lang="en-US" sz="1400" dirty="0" err="1"/>
              <a:t>trợ</a:t>
            </a:r>
            <a:r>
              <a:rPr lang="en-US" sz="1400" dirty="0"/>
              <a:t> </a:t>
            </a:r>
            <a:r>
              <a:rPr lang="en-US" sz="1400" b="1" dirty="0"/>
              <a:t>new / infrequent items</a:t>
            </a:r>
            <a:r>
              <a:rPr lang="en-US" sz="1400" dirty="0"/>
              <a:t> </a:t>
            </a:r>
            <a:r>
              <a:rPr lang="en-US" sz="1400" dirty="0" err="1"/>
              <a:t>tốt</a:t>
            </a:r>
            <a:r>
              <a:rPr lang="en-US" sz="1400" dirty="0"/>
              <a:t> </a:t>
            </a:r>
            <a:r>
              <a:rPr lang="en-US" sz="1400" dirty="0" err="1"/>
              <a:t>hơn</a:t>
            </a:r>
            <a:r>
              <a:rPr lang="en-US" sz="1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 err="1"/>
              <a:t>Một</a:t>
            </a:r>
            <a:r>
              <a:rPr lang="en-US" sz="1400" dirty="0"/>
              <a:t> vocabulary </a:t>
            </a:r>
            <a:r>
              <a:rPr lang="en-US" sz="1400" dirty="0" err="1"/>
              <a:t>nhỏ</a:t>
            </a:r>
            <a:r>
              <a:rPr lang="en-US" sz="1400" dirty="0"/>
              <a:t> </a:t>
            </a:r>
            <a:r>
              <a:rPr lang="en-US" sz="1400" dirty="0" err="1"/>
              <a:t>của</a:t>
            </a:r>
            <a:r>
              <a:rPr lang="en-US" sz="1400" dirty="0"/>
              <a:t> codewords </a:t>
            </a:r>
            <a:r>
              <a:rPr lang="en-US" sz="1400" dirty="0" err="1"/>
              <a:t>có</a:t>
            </a:r>
            <a:r>
              <a:rPr lang="en-US" sz="1400" dirty="0"/>
              <a:t> </a:t>
            </a:r>
            <a:r>
              <a:rPr lang="en-US" sz="1400" dirty="0" err="1"/>
              <a:t>thể</a:t>
            </a:r>
            <a:r>
              <a:rPr lang="en-US" sz="1400" dirty="0"/>
              <a:t> </a:t>
            </a:r>
            <a:r>
              <a:rPr lang="en-US" sz="1400" dirty="0" err="1"/>
              <a:t>biểu</a:t>
            </a:r>
            <a:r>
              <a:rPr lang="en-US" sz="1400" dirty="0"/>
              <a:t> </a:t>
            </a:r>
            <a:r>
              <a:rPr lang="en-US" sz="1400" dirty="0" err="1"/>
              <a:t>diễn</a:t>
            </a:r>
            <a:r>
              <a:rPr lang="en-US" sz="1400" dirty="0"/>
              <a:t> </a:t>
            </a:r>
            <a:r>
              <a:rPr lang="en-US" sz="1400" b="1" dirty="0"/>
              <a:t>catalog </a:t>
            </a:r>
            <a:r>
              <a:rPr lang="en-US" sz="1400" b="1" dirty="0" err="1"/>
              <a:t>rất</a:t>
            </a:r>
            <a:r>
              <a:rPr lang="en-US" sz="1400" b="1" dirty="0"/>
              <a:t> </a:t>
            </a:r>
            <a:r>
              <a:rPr lang="en-US" sz="1400" b="1" dirty="0" err="1"/>
              <a:t>lớn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IGER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25" y="1658983"/>
            <a:ext cx="10960549" cy="426315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36089" y="35307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vi-VN" sz="2400" b="1" dirty="0">
                <a:solidFill>
                  <a:srgbClr val="192C4F"/>
                </a:solidFill>
                <a:latin typeface="Aptos"/>
              </a:rPr>
              <a:t>RQ-VAE</a:t>
            </a:r>
            <a:endParaRPr sz="2400" b="1" dirty="0">
              <a:solidFill>
                <a:srgbClr val="192C4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FCEB2C-91C3-5CCC-B0CC-A3C1AEE7E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5042"/>
            <a:ext cx="12192000" cy="524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5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TIGER_Fig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7315200" cy="3886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Có SID rồi, retrieval trở thành next-token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Phần retrieval phía sau gần như một bài toán seq2seq quen thuộc.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1325880"/>
            <a:ext cx="3611880" cy="507492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600" b="1" dirty="0">
                <a:solidFill>
                  <a:schemeClr val="tx1"/>
                </a:solidFill>
              </a:rPr>
              <a:t>Input:</a:t>
            </a:r>
            <a:r>
              <a:rPr lang="en-US" sz="1600" dirty="0">
                <a:solidFill>
                  <a:schemeClr val="tx1"/>
                </a:solidFill>
              </a:rPr>
              <a:t> User ID + </a:t>
            </a:r>
            <a:r>
              <a:rPr lang="en-US" sz="1600" dirty="0" err="1">
                <a:solidFill>
                  <a:schemeClr val="tx1"/>
                </a:solidFill>
              </a:rPr>
              <a:t>lịch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sử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tương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tác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trong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đó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mỗi</a:t>
            </a:r>
            <a:r>
              <a:rPr lang="en-US" sz="1600" dirty="0">
                <a:solidFill>
                  <a:schemeClr val="tx1"/>
                </a:solidFill>
              </a:rPr>
              <a:t> item </a:t>
            </a:r>
            <a:r>
              <a:rPr lang="en-US" sz="1600" dirty="0" err="1">
                <a:solidFill>
                  <a:schemeClr val="tx1"/>
                </a:solidFill>
              </a:rPr>
              <a:t>được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thay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bằng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chuỗi</a:t>
            </a:r>
            <a:r>
              <a:rPr lang="en-US" sz="1600" dirty="0">
                <a:solidFill>
                  <a:schemeClr val="tx1"/>
                </a:solidFill>
              </a:rPr>
              <a:t> Semantic ID.</a:t>
            </a:r>
            <a:endParaRPr lang="vi-VN" sz="1600" dirty="0">
              <a:solidFill>
                <a:schemeClr val="tx1"/>
              </a:solidFill>
            </a:endParaRPr>
          </a:p>
          <a:p>
            <a:pPr lvl="0"/>
            <a:endParaRPr lang="en-US" sz="1600" dirty="0">
              <a:solidFill>
                <a:schemeClr val="tx1"/>
              </a:solidFill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</a:rPr>
              <a:t>Training:</a:t>
            </a:r>
            <a:r>
              <a:rPr lang="en-US" sz="1600" dirty="0">
                <a:solidFill>
                  <a:schemeClr val="tx1"/>
                </a:solidFill>
              </a:rPr>
              <a:t> Transformer encoder–decoder </a:t>
            </a:r>
            <a:r>
              <a:rPr lang="en-US" sz="1600" dirty="0" err="1">
                <a:solidFill>
                  <a:schemeClr val="tx1"/>
                </a:solidFill>
              </a:rPr>
              <a:t>học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sinh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SID </a:t>
            </a:r>
            <a:r>
              <a:rPr lang="en-US" sz="1600" b="1" dirty="0" err="1">
                <a:solidFill>
                  <a:schemeClr val="tx1"/>
                </a:solidFill>
              </a:rPr>
              <a:t>của</a:t>
            </a:r>
            <a:r>
              <a:rPr lang="en-US" sz="1600" b="1" dirty="0">
                <a:solidFill>
                  <a:schemeClr val="tx1"/>
                </a:solidFill>
              </a:rPr>
              <a:t> item </a:t>
            </a:r>
            <a:r>
              <a:rPr lang="en-US" sz="1600" b="1" dirty="0" err="1">
                <a:solidFill>
                  <a:schemeClr val="tx1"/>
                </a:solidFill>
              </a:rPr>
              <a:t>tiếp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theo</a:t>
            </a:r>
            <a:r>
              <a:rPr lang="en-US" sz="1600" b="1" dirty="0">
                <a:solidFill>
                  <a:schemeClr val="tx1"/>
                </a:solidFill>
              </a:rPr>
              <a:t>, token-by-token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bằng</a:t>
            </a:r>
            <a:r>
              <a:rPr lang="en-US" sz="1600" dirty="0">
                <a:solidFill>
                  <a:schemeClr val="tx1"/>
                </a:solidFill>
              </a:rPr>
              <a:t> cross-entropy.</a:t>
            </a:r>
            <a:endParaRPr lang="vi-VN" sz="1600" dirty="0">
              <a:solidFill>
                <a:schemeClr val="tx1"/>
              </a:solidFill>
            </a:endParaRPr>
          </a:p>
          <a:p>
            <a:pPr lvl="0"/>
            <a:endParaRPr lang="en-US" sz="1600" dirty="0">
              <a:solidFill>
                <a:schemeClr val="tx1"/>
              </a:solidFill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</a:rPr>
              <a:t>Inference: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dùng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beam search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để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sinh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nhiều</a:t>
            </a:r>
            <a:r>
              <a:rPr lang="en-US" sz="1600" dirty="0">
                <a:solidFill>
                  <a:schemeClr val="tx1"/>
                </a:solidFill>
              </a:rPr>
              <a:t> SID </a:t>
            </a:r>
            <a:r>
              <a:rPr lang="en-US" sz="1600" dirty="0" err="1">
                <a:solidFill>
                  <a:schemeClr val="tx1"/>
                </a:solidFill>
              </a:rPr>
              <a:t>có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xác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suất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cao</a:t>
            </a:r>
            <a:r>
              <a:rPr lang="en-US" sz="1600" dirty="0">
                <a:solidFill>
                  <a:schemeClr val="tx1"/>
                </a:solidFill>
              </a:rPr>
              <a:t> → lookup SID </a:t>
            </a:r>
            <a:r>
              <a:rPr lang="en-US" sz="1600" dirty="0" err="1">
                <a:solidFill>
                  <a:schemeClr val="tx1"/>
                </a:solidFill>
              </a:rPr>
              <a:t>về</a:t>
            </a:r>
            <a:r>
              <a:rPr lang="en-US" sz="1600" dirty="0">
                <a:solidFill>
                  <a:schemeClr val="tx1"/>
                </a:solidFill>
              </a:rPr>
              <a:t> item → </a:t>
            </a:r>
            <a:r>
              <a:rPr lang="en-US" sz="1600" dirty="0" err="1">
                <a:solidFill>
                  <a:schemeClr val="tx1"/>
                </a:solidFill>
              </a:rPr>
              <a:t>lấy</a:t>
            </a:r>
            <a:r>
              <a:rPr lang="en-US" sz="1600" dirty="0">
                <a:solidFill>
                  <a:schemeClr val="tx1"/>
                </a:solidFill>
              </a:rPr>
              <a:t> Top-K recommendation.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7410" y="1682496"/>
            <a:ext cx="2958565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685094"/>
                </a:solidFill>
                <a:latin typeface="Aptos"/>
              </a:rPr>
              <a:t>Train &amp; inference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6458836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 err="1">
                <a:solidFill>
                  <a:srgbClr val="676F7B"/>
                </a:solidFill>
                <a:latin typeface="Aptos"/>
              </a:rPr>
              <a:t>Nguồn</a:t>
            </a:r>
            <a:r>
              <a:rPr sz="950" b="0" dirty="0">
                <a:solidFill>
                  <a:srgbClr val="676F7B"/>
                </a:solidFill>
                <a:latin typeface="Aptos"/>
              </a:rPr>
              <a:t>: TIGER, §3.2 &amp; §4.4 · arXiv:2305.05065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GR4AD_Figure2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05750"/>
            <a:ext cx="4663440" cy="3320730"/>
          </a:xfrm>
          <a:prstGeom prst="rect">
            <a:avLst/>
          </a:prstGeom>
        </p:spPr>
      </p:pic>
      <p:pic>
        <p:nvPicPr>
          <p:cNvPr id="27" name="Picture 26" descr="GR4AD_Figure3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138777"/>
            <a:ext cx="6172200" cy="22720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GR4AD — Khi đem Generative Retrieval vào Ads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Paper xác định ba bài toán chính: representation cho Ads, learning theo business value và serving thời gian thực.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8779" y="1293765"/>
            <a:ext cx="3063240" cy="1135536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23371" y="1412637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406FB2"/>
                </a:solidFill>
                <a:latin typeface="Aptos"/>
              </a:rPr>
              <a:t>1 · UA-SID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3371" y="170524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2B3341"/>
                </a:solidFill>
                <a:latin typeface="Aptos"/>
              </a:rPr>
              <a:t>Ad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gồm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video + product + advertiser + business metadata →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cần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representation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riêng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60347" y="1293765"/>
            <a:ext cx="3063240" cy="1135536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24938" y="1412637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685094"/>
                </a:solidFill>
                <a:latin typeface="Aptos"/>
              </a:rPr>
              <a:t>2 · LazyAR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4938" y="170524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 err="1">
                <a:solidFill>
                  <a:srgbClr val="2B3341"/>
                </a:solidFill>
                <a:latin typeface="Aptos"/>
              </a:rPr>
              <a:t>Giảm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phần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decoding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bắt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buộc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phải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tuần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tự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để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tăng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throughput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khi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beam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lớn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1915" y="1293764"/>
            <a:ext cx="3063240" cy="1135535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26506" y="1412637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CB7D29"/>
                </a:solidFill>
                <a:latin typeface="Aptos"/>
              </a:rPr>
              <a:t>3 · VSL / RSPO / DBS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6506" y="170524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B3341"/>
                </a:solidFill>
                <a:latin typeface="Aptos"/>
              </a:rPr>
              <a:t>Học theo eCPM &amp; list-wise reward, rồi điều khiển beam theo compute/traffic.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635508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F7B"/>
                </a:solidFill>
                <a:latin typeface="Aptos"/>
              </a:rPr>
              <a:t>Nguồn: GR4AD, Introduction &amp; Fig.1–3 · arXiv:2602.22732v3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6949440" cy="4948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UA-SID — Semantic ID dành riêng cho quảng cáo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GR4AD mở rộng SID để giữ cả semantic, collaborative signal và business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298448"/>
            <a:ext cx="3886200" cy="521208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536192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406FB2"/>
                </a:solidFill>
                <a:latin typeface="Aptos"/>
              </a:rPr>
              <a:t>UA-SID </a:t>
            </a:r>
            <a:r>
              <a:rPr sz="1800" b="1" dirty="0" err="1">
                <a:solidFill>
                  <a:srgbClr val="406FB2"/>
                </a:solidFill>
                <a:latin typeface="Aptos"/>
              </a:rPr>
              <a:t>gồm</a:t>
            </a:r>
            <a:r>
              <a:rPr sz="1800" b="1" dirty="0">
                <a:solidFill>
                  <a:srgbClr val="406FB2"/>
                </a:solidFill>
                <a:latin typeface="Aptos"/>
              </a:rPr>
              <a:t> 3 </a:t>
            </a:r>
            <a:r>
              <a:rPr sz="1800" b="1" dirty="0" err="1">
                <a:solidFill>
                  <a:srgbClr val="406FB2"/>
                </a:solidFill>
                <a:latin typeface="Aptos"/>
              </a:rPr>
              <a:t>lớp</a:t>
            </a:r>
            <a:r>
              <a:rPr sz="1800" b="1" dirty="0">
                <a:solidFill>
                  <a:srgbClr val="406FB2"/>
                </a:solidFill>
                <a:latin typeface="Aptos"/>
              </a:rPr>
              <a:t> ý </a:t>
            </a:r>
            <a:r>
              <a:rPr sz="1800" b="1" dirty="0" err="1">
                <a:solidFill>
                  <a:srgbClr val="406FB2"/>
                </a:solidFill>
                <a:latin typeface="Aptos"/>
              </a:rPr>
              <a:t>tưởng</a:t>
            </a:r>
            <a:endParaRPr sz="1800" b="1" dirty="0">
              <a:solidFill>
                <a:srgbClr val="406FB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73568" y="1965960"/>
            <a:ext cx="3310128" cy="403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UAE</a:t>
            </a:r>
            <a:r>
              <a:rPr dirty="0"/>
              <a:t>: instruction-tune MLLM </a:t>
            </a:r>
            <a:r>
              <a:rPr dirty="0" err="1"/>
              <a:t>để</a:t>
            </a:r>
            <a:r>
              <a:rPr dirty="0"/>
              <a:t> fuse Video + Product + Advertiser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unified ad embedding.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Co-occurrence learning: </a:t>
            </a:r>
            <a:r>
              <a:rPr dirty="0" err="1"/>
              <a:t>đưa</a:t>
            </a:r>
            <a:r>
              <a:rPr dirty="0"/>
              <a:t> collaborative signal </a:t>
            </a:r>
            <a:r>
              <a:rPr dirty="0" err="1"/>
              <a:t>từ</a:t>
            </a:r>
            <a:r>
              <a:rPr dirty="0"/>
              <a:t> behavior </a:t>
            </a:r>
            <a:r>
              <a:rPr dirty="0" err="1"/>
              <a:t>vào</a:t>
            </a:r>
            <a:r>
              <a:rPr dirty="0"/>
              <a:t> embedding,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content similarity.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MGMR RQ-</a:t>
            </a:r>
            <a:r>
              <a:rPr b="1" dirty="0" err="1"/>
              <a:t>KMeans</a:t>
            </a:r>
            <a:r>
              <a:rPr b="1" dirty="0"/>
              <a:t>: </a:t>
            </a:r>
            <a:r>
              <a:rPr dirty="0" err="1"/>
              <a:t>dùng</a:t>
            </a:r>
            <a:r>
              <a:rPr dirty="0"/>
              <a:t> multi-resolution + balanced K-means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codebook utilization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SID collision.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40">
                <a:solidFill>
                  <a:srgbClr val="2B3341"/>
                </a:solidFill>
                <a:latin typeface="Aptos"/>
              </a:defRPr>
            </a:pPr>
            <a:r>
              <a:rPr dirty="0"/>
              <a:t>• Layer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hash </a:t>
            </a:r>
            <a:r>
              <a:rPr dirty="0" err="1"/>
              <a:t>từ</a:t>
            </a:r>
            <a:r>
              <a:rPr dirty="0"/>
              <a:t> non-semantic business fields (</a:t>
            </a:r>
            <a:r>
              <a:rPr dirty="0" err="1"/>
              <a:t>vd</a:t>
            </a:r>
            <a:r>
              <a:rPr dirty="0"/>
              <a:t>. account ID, conversion type),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ads </a:t>
            </a:r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giống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delivery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623620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76F7B"/>
                </a:solidFill>
                <a:latin typeface="Aptos"/>
              </a:rPr>
              <a:t>Nguồn: GR4AD, §3.1 &amp; Fig.2 · arXiv:2602.22732v3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160B4-8E67-075A-CE26-899F278D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0F4F30-1C8C-EF7B-9F57-BEF574B169B5}"/>
              </a:ext>
            </a:extLst>
          </p:cNvPr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vi-VN" sz="2400" b="1" dirty="0">
                <a:solidFill>
                  <a:srgbClr val="192C4F"/>
                </a:solidFill>
                <a:latin typeface="Aptos"/>
              </a:rPr>
              <a:t>RQ-Kmean</a:t>
            </a:r>
            <a:endParaRPr sz="2400" b="1" dirty="0">
              <a:solidFill>
                <a:srgbClr val="192C4F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55D97-1C10-583A-1DCA-BFE72326C7B8}"/>
              </a:ext>
            </a:extLst>
          </p:cNvPr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GR4AD mở rộng SID để giữ cả semantic, collaborative signal và business identity.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8D0F8-26A3-0B85-0EA8-7C050C913EF5}"/>
              </a:ext>
            </a:extLst>
          </p:cNvPr>
          <p:cNvSpPr txBox="1"/>
          <p:nvPr/>
        </p:nvSpPr>
        <p:spPr>
          <a:xfrm>
            <a:off x="5971032" y="2034408"/>
            <a:ext cx="60975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Residual K-Means:</a:t>
            </a:r>
            <a:r>
              <a:rPr lang="en-US" sz="1400" dirty="0"/>
              <a:t> </a:t>
            </a:r>
            <a:r>
              <a:rPr lang="en-US" sz="1400" dirty="0" err="1"/>
              <a:t>mỗi</a:t>
            </a:r>
            <a:r>
              <a:rPr lang="en-US" sz="1400" dirty="0"/>
              <a:t> level </a:t>
            </a:r>
            <a:r>
              <a:rPr lang="en-US" sz="1400" dirty="0" err="1"/>
              <a:t>chọn</a:t>
            </a:r>
            <a:r>
              <a:rPr lang="en-US" sz="1400" dirty="0"/>
              <a:t> centroid </a:t>
            </a:r>
            <a:r>
              <a:rPr lang="en-US" sz="1400" dirty="0" err="1"/>
              <a:t>gần</a:t>
            </a:r>
            <a:r>
              <a:rPr lang="en-US" sz="1400" dirty="0"/>
              <a:t> </a:t>
            </a:r>
            <a:r>
              <a:rPr lang="en-US" sz="1400" dirty="0" err="1"/>
              <a:t>nhất</a:t>
            </a:r>
            <a:r>
              <a:rPr lang="en-US" sz="1400" dirty="0"/>
              <a:t> → </a:t>
            </a:r>
            <a:r>
              <a:rPr lang="en-US" sz="1400" dirty="0" err="1"/>
              <a:t>lấy</a:t>
            </a:r>
            <a:r>
              <a:rPr lang="en-US" sz="1400" dirty="0"/>
              <a:t> cluster ID </a:t>
            </a:r>
            <a:r>
              <a:rPr lang="en-US" sz="1400" dirty="0" err="1"/>
              <a:t>làm</a:t>
            </a:r>
            <a:r>
              <a:rPr lang="en-US" sz="1400" dirty="0"/>
              <a:t> token → </a:t>
            </a:r>
            <a:r>
              <a:rPr lang="en-US" sz="1400" dirty="0" err="1"/>
              <a:t>trừ</a:t>
            </a:r>
            <a:r>
              <a:rPr lang="en-US" sz="1400" dirty="0"/>
              <a:t> centroid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tạo</a:t>
            </a:r>
            <a:r>
              <a:rPr lang="en-US" sz="1400" dirty="0"/>
              <a:t> residual </a:t>
            </a:r>
            <a:r>
              <a:rPr lang="en-US" sz="1400" dirty="0" err="1"/>
              <a:t>cho</a:t>
            </a:r>
            <a:r>
              <a:rPr lang="en-US" sz="1400" dirty="0"/>
              <a:t> level </a:t>
            </a:r>
            <a:r>
              <a:rPr lang="en-US" sz="1400" dirty="0" err="1"/>
              <a:t>tiếp</a:t>
            </a:r>
            <a:r>
              <a:rPr lang="en-US" sz="1400" dirty="0"/>
              <a:t> </a:t>
            </a:r>
            <a:r>
              <a:rPr lang="en-US" sz="1400" dirty="0" err="1"/>
              <a:t>theo.</a:t>
            </a:r>
            <a:endParaRPr lang="en-US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Multi-Resolution: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level </a:t>
            </a:r>
            <a:r>
              <a:rPr lang="en-US" sz="1400" dirty="0" err="1"/>
              <a:t>đầu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 codebook </a:t>
            </a:r>
            <a:r>
              <a:rPr lang="en-US" sz="1400" dirty="0" err="1"/>
              <a:t>lớn</a:t>
            </a:r>
            <a:r>
              <a:rPr lang="en-US" sz="1400" dirty="0"/>
              <a:t>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bắt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yếu</a:t>
            </a:r>
            <a:r>
              <a:rPr lang="en-US" sz="1400" dirty="0"/>
              <a:t> </a:t>
            </a:r>
            <a:r>
              <a:rPr lang="en-US" sz="1400" dirty="0" err="1"/>
              <a:t>tố</a:t>
            </a:r>
            <a:r>
              <a:rPr lang="en-US" sz="1400" dirty="0"/>
              <a:t> semantic </a:t>
            </a:r>
            <a:r>
              <a:rPr lang="en-US" sz="1400" dirty="0" err="1"/>
              <a:t>chính</a:t>
            </a:r>
            <a:r>
              <a:rPr lang="en-US" sz="1400" dirty="0"/>
              <a:t>; residual </a:t>
            </a:r>
            <a:r>
              <a:rPr lang="en-US" sz="1400" dirty="0" err="1"/>
              <a:t>về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dirty="0" err="1"/>
              <a:t>có</a:t>
            </a:r>
            <a:r>
              <a:rPr lang="en-US" sz="1400" dirty="0"/>
              <a:t> entropy </a:t>
            </a:r>
            <a:r>
              <a:rPr lang="en-US" sz="1400" dirty="0" err="1"/>
              <a:t>thấp</a:t>
            </a:r>
            <a:r>
              <a:rPr lang="en-US" sz="1400" dirty="0"/>
              <a:t> </a:t>
            </a:r>
            <a:r>
              <a:rPr lang="en-US" sz="1400" dirty="0" err="1"/>
              <a:t>hơn</a:t>
            </a:r>
            <a:r>
              <a:rPr lang="en-US" sz="1400" dirty="0"/>
              <a:t> </a:t>
            </a:r>
            <a:r>
              <a:rPr lang="en-US" sz="1400" dirty="0" err="1"/>
              <a:t>nên</a:t>
            </a:r>
            <a:r>
              <a:rPr lang="en-US" sz="1400" dirty="0"/>
              <a:t> </a:t>
            </a:r>
            <a:r>
              <a:rPr lang="en-US" sz="1400" dirty="0" err="1"/>
              <a:t>không</a:t>
            </a:r>
            <a:r>
              <a:rPr lang="en-US" sz="1400" dirty="0"/>
              <a:t> </a:t>
            </a:r>
            <a:r>
              <a:rPr lang="en-US" sz="1400" dirty="0" err="1"/>
              <a:t>cần</a:t>
            </a:r>
            <a:r>
              <a:rPr lang="en-US" sz="1400" dirty="0"/>
              <a:t> </a:t>
            </a:r>
            <a:r>
              <a:rPr lang="en-US" sz="1400" dirty="0" err="1"/>
              <a:t>cùng</a:t>
            </a:r>
            <a:r>
              <a:rPr lang="en-US" sz="1400" dirty="0"/>
              <a:t> </a:t>
            </a:r>
            <a:r>
              <a:rPr lang="en-US" sz="1400" dirty="0" err="1"/>
              <a:t>độ</a:t>
            </a:r>
            <a:r>
              <a:rPr lang="en-US" sz="1400" dirty="0"/>
              <a:t> </a:t>
            </a:r>
            <a:r>
              <a:rPr lang="en-US" sz="1400" dirty="0" err="1"/>
              <a:t>phân</a:t>
            </a:r>
            <a:r>
              <a:rPr lang="en-US" sz="1400" dirty="0"/>
              <a:t> </a:t>
            </a:r>
            <a:r>
              <a:rPr lang="en-US" sz="1400" dirty="0" err="1"/>
              <a:t>giải</a:t>
            </a:r>
            <a:r>
              <a:rPr lang="en-US" sz="1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Balanced K-Means:</a:t>
            </a:r>
            <a:r>
              <a:rPr lang="en-US" sz="1400" dirty="0"/>
              <a:t> </a:t>
            </a:r>
            <a:r>
              <a:rPr lang="en-US" sz="1400" dirty="0" err="1"/>
              <a:t>ép</a:t>
            </a:r>
            <a:r>
              <a:rPr lang="en-US" sz="1400" dirty="0"/>
              <a:t> cluster </a:t>
            </a:r>
            <a:r>
              <a:rPr lang="en-US" sz="1400" dirty="0" err="1"/>
              <a:t>phân</a:t>
            </a:r>
            <a:r>
              <a:rPr lang="en-US" sz="1400" dirty="0"/>
              <a:t> </a:t>
            </a:r>
            <a:r>
              <a:rPr lang="en-US" sz="1400" dirty="0" err="1"/>
              <a:t>bố</a:t>
            </a:r>
            <a:r>
              <a:rPr lang="en-US" sz="1400" dirty="0"/>
              <a:t> </a:t>
            </a:r>
            <a:r>
              <a:rPr lang="en-US" sz="1400" dirty="0" err="1"/>
              <a:t>cân</a:t>
            </a:r>
            <a:r>
              <a:rPr lang="en-US" sz="1400" dirty="0"/>
              <a:t> </a:t>
            </a:r>
            <a:r>
              <a:rPr lang="en-US" sz="1400" dirty="0" err="1"/>
              <a:t>bằng</a:t>
            </a:r>
            <a:r>
              <a:rPr lang="en-US" sz="1400" dirty="0"/>
              <a:t> </a:t>
            </a:r>
            <a:r>
              <a:rPr lang="en-US" sz="1400" dirty="0" err="1"/>
              <a:t>hơn</a:t>
            </a:r>
            <a:r>
              <a:rPr lang="en-US" sz="1400" dirty="0"/>
              <a:t> → </a:t>
            </a:r>
            <a:r>
              <a:rPr lang="en-US" sz="1400" b="1" dirty="0" err="1"/>
              <a:t>tăng</a:t>
            </a:r>
            <a:r>
              <a:rPr lang="en-US" sz="1400" b="1" dirty="0"/>
              <a:t> codebook utilization</a:t>
            </a:r>
            <a:r>
              <a:rPr lang="en-US" sz="1400" dirty="0"/>
              <a:t>, </a:t>
            </a:r>
            <a:r>
              <a:rPr lang="en-US" sz="1400" dirty="0" err="1"/>
              <a:t>tránh</a:t>
            </a:r>
            <a:r>
              <a:rPr lang="en-US" sz="1400" dirty="0"/>
              <a:t> </a:t>
            </a:r>
            <a:r>
              <a:rPr lang="en-US" sz="1400" dirty="0" err="1"/>
              <a:t>nhiều</a:t>
            </a:r>
            <a:r>
              <a:rPr lang="en-US" sz="1400" dirty="0"/>
              <a:t> token </a:t>
            </a:r>
            <a:r>
              <a:rPr lang="en-US" sz="1400" dirty="0" err="1"/>
              <a:t>gần</a:t>
            </a:r>
            <a:r>
              <a:rPr lang="en-US" sz="1400" dirty="0"/>
              <a:t> </a:t>
            </a:r>
            <a:r>
              <a:rPr lang="en-US" sz="1400" dirty="0" err="1"/>
              <a:t>như</a:t>
            </a:r>
            <a:r>
              <a:rPr lang="en-US" sz="1400" dirty="0"/>
              <a:t> </a:t>
            </a:r>
            <a:r>
              <a:rPr lang="en-US" sz="1400" dirty="0" err="1"/>
              <a:t>không</a:t>
            </a:r>
            <a:r>
              <a:rPr lang="en-US" sz="1400" dirty="0"/>
              <a:t> </a:t>
            </a:r>
            <a:r>
              <a:rPr lang="en-US" sz="1400" dirty="0" err="1"/>
              <a:t>được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Multi-Granularity:</a:t>
            </a:r>
            <a:r>
              <a:rPr lang="en-US" sz="1400" dirty="0"/>
              <a:t> level </a:t>
            </a:r>
            <a:r>
              <a:rPr lang="en-US" sz="1400" dirty="0" err="1"/>
              <a:t>cuối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 </a:t>
            </a:r>
            <a:r>
              <a:rPr lang="en-US" sz="1400" b="1" dirty="0"/>
              <a:t>hash </a:t>
            </a:r>
            <a:r>
              <a:rPr lang="en-US" sz="1400" b="1" dirty="0" err="1"/>
              <a:t>từ</a:t>
            </a:r>
            <a:r>
              <a:rPr lang="en-US" sz="1400" b="1" dirty="0"/>
              <a:t> business features</a:t>
            </a:r>
            <a:r>
              <a:rPr lang="en-US" sz="1400" dirty="0"/>
              <a:t> </a:t>
            </a:r>
            <a:r>
              <a:rPr lang="en-US" sz="1400" dirty="0" err="1"/>
              <a:t>như</a:t>
            </a:r>
            <a:r>
              <a:rPr lang="en-US" sz="1400" dirty="0"/>
              <a:t> Account ID / Conversion Type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phân</a:t>
            </a:r>
            <a:r>
              <a:rPr lang="en-US" sz="1400" dirty="0"/>
              <a:t> </a:t>
            </a:r>
            <a:r>
              <a:rPr lang="en-US" sz="1400" dirty="0" err="1"/>
              <a:t>biệt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Ads semantic </a:t>
            </a:r>
            <a:r>
              <a:rPr lang="en-US" sz="1400" dirty="0" err="1"/>
              <a:t>giống</a:t>
            </a:r>
            <a:r>
              <a:rPr lang="en-US" sz="1400" dirty="0"/>
              <a:t> </a:t>
            </a:r>
            <a:r>
              <a:rPr lang="en-US" sz="1400" dirty="0" err="1"/>
              <a:t>nhau</a:t>
            </a:r>
            <a:r>
              <a:rPr lang="en-US" sz="1400" dirty="0"/>
              <a:t> </a:t>
            </a:r>
            <a:r>
              <a:rPr lang="en-US" sz="1400" dirty="0" err="1"/>
              <a:t>nhưng</a:t>
            </a:r>
            <a:r>
              <a:rPr lang="en-US" sz="1400" dirty="0"/>
              <a:t> </a:t>
            </a:r>
            <a:r>
              <a:rPr lang="en-US" sz="1400" dirty="0" err="1"/>
              <a:t>mục</a:t>
            </a:r>
            <a:r>
              <a:rPr lang="en-US" sz="1400" dirty="0"/>
              <a:t> </a:t>
            </a:r>
            <a:r>
              <a:rPr lang="en-US" sz="1400" dirty="0" err="1"/>
              <a:t>tiêu</a:t>
            </a:r>
            <a:r>
              <a:rPr lang="en-US" sz="1400" dirty="0"/>
              <a:t> delivery </a:t>
            </a:r>
            <a:r>
              <a:rPr lang="en-US" sz="1400" dirty="0" err="1"/>
              <a:t>khác</a:t>
            </a:r>
            <a:r>
              <a:rPr lang="en-US" sz="1400" dirty="0"/>
              <a:t> </a:t>
            </a:r>
            <a:r>
              <a:rPr lang="en-US" sz="1400" dirty="0" err="1"/>
              <a:t>nhau</a:t>
            </a:r>
            <a:endParaRPr lang="en-US" sz="1400" dirty="0"/>
          </a:p>
        </p:txBody>
      </p:sp>
      <p:pic>
        <p:nvPicPr>
          <p:cNvPr id="5" name="Picture 4" descr="深度剖析RQ-VAE：从向量量化到生成式推荐的语义ID技术- 石头开会- 博客园">
            <a:extLst>
              <a:ext uri="{FF2B5EF4-FFF2-40B4-BE49-F238E27FC236}">
                <a16:creationId xmlns:a16="http://schemas.microsoft.com/office/drawing/2014/main" id="{35F43364-B56A-8C07-5E20-57AE8047D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42" y="1841774"/>
            <a:ext cx="5593080" cy="317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93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64" y="1115793"/>
            <a:ext cx="9363456" cy="3446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LazyAR — Không phải mọi decoder layer đều cần autoregressive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Ý tưởng cốt lõi: chỉ inject token trước ở layer muộn; phần đầu được tính song song và reuse qua beam.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73295" y="4617719"/>
            <a:ext cx="3063240" cy="141732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2277" y="4806235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dirty="0">
                <a:solidFill>
                  <a:srgbClr val="B74646"/>
                </a:solidFill>
                <a:latin typeface="Aptos"/>
              </a:rPr>
              <a:t>Vanilla 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2277" y="5179497"/>
            <a:ext cx="2743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 err="1">
                <a:solidFill>
                  <a:srgbClr val="2B3341"/>
                </a:solidFill>
                <a:latin typeface="Aptos"/>
              </a:rPr>
              <a:t>Mỗi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step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chạy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qua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toàn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bộ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decoder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và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phụ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thuộc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token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trước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→ sequential cost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lớn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khi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 beam </a:t>
            </a:r>
            <a:r>
              <a:rPr sz="1180" b="0" dirty="0" err="1">
                <a:solidFill>
                  <a:srgbClr val="2B3341"/>
                </a:solidFill>
                <a:latin typeface="Aptos"/>
              </a:rPr>
              <a:t>tăng</a:t>
            </a:r>
            <a:r>
              <a:rPr sz="1180" b="0" dirty="0">
                <a:solidFill>
                  <a:srgbClr val="2B3341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466" y="4645039"/>
            <a:ext cx="3063240" cy="141732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0057" y="4763911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368461"/>
                </a:solidFill>
                <a:latin typeface="Aptos"/>
              </a:rPr>
              <a:t>LazyAR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0057" y="5102239"/>
            <a:ext cx="2743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B3341"/>
                </a:solidFill>
                <a:latin typeface="Aptos"/>
              </a:rPr>
              <a:t>K layer đầu không phụ thuộc token trước → chạy song song, share qua beams. Chỉ L−K layer sau còn autoregressive.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032" y="6269499"/>
            <a:ext cx="9646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dirty="0">
                <a:solidFill>
                  <a:srgbClr val="192C4F"/>
                </a:solidFill>
                <a:latin typeface="Aptos"/>
              </a:rPr>
              <a:t>Trong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thí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nghiệm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,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một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cấu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hình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K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phù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hợp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giữ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recommendation quality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và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gần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như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nhân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C4F"/>
                </a:solidFill>
                <a:latin typeface="Aptos"/>
              </a:rPr>
              <a:t>đôi</a:t>
            </a:r>
            <a:r>
              <a:rPr sz="1250" b="1" dirty="0">
                <a:solidFill>
                  <a:srgbClr val="192C4F"/>
                </a:solidFill>
                <a:latin typeface="Aptos"/>
              </a:rPr>
              <a:t> throughput.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4AD_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53312"/>
            <a:ext cx="7543800" cy="42693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VSL + RSPO — Tối ưu business value, không chỉ “đúng item”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Ads trả về một ranked list; vì vậy per-item supervision chưa đủ để tối ưu doanh thu và thứ tự hiển thị.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207008"/>
            <a:ext cx="3429000" cy="2313432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2" y="138988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dirty="0">
                <a:solidFill>
                  <a:srgbClr val="368461"/>
                </a:solidFill>
                <a:latin typeface="Aptos"/>
              </a:rPr>
              <a:t>VSL · Value-Aware 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33114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70">
                <a:solidFill>
                  <a:srgbClr val="2B3341"/>
                </a:solidFill>
                <a:latin typeface="Aptos"/>
              </a:defRPr>
            </a:pPr>
            <a:r>
              <a:rPr dirty="0"/>
              <a:t>• Học SID </a:t>
            </a:r>
            <a:r>
              <a:rPr dirty="0" err="1"/>
              <a:t>bằng</a:t>
            </a:r>
            <a:r>
              <a:rPr dirty="0"/>
              <a:t> cross-entropy </a:t>
            </a:r>
            <a:r>
              <a:rPr dirty="0" err="1"/>
              <a:t>như</a:t>
            </a:r>
            <a:r>
              <a:rPr dirty="0"/>
              <a:t> </a:t>
            </a:r>
            <a:r>
              <a:rPr dirty="0" err="1"/>
              <a:t>bình</a:t>
            </a:r>
            <a:r>
              <a:rPr dirty="0"/>
              <a:t> </a:t>
            </a:r>
            <a:r>
              <a:rPr dirty="0" err="1"/>
              <a:t>thường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7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eCPM</a:t>
            </a:r>
            <a:r>
              <a:rPr dirty="0"/>
              <a:t> token </a:t>
            </a:r>
            <a:r>
              <a:rPr dirty="0" err="1"/>
              <a:t>để</a:t>
            </a:r>
            <a:r>
              <a:rPr dirty="0"/>
              <a:t> model </a:t>
            </a:r>
            <a:r>
              <a:rPr dirty="0" err="1"/>
              <a:t>học</a:t>
            </a:r>
            <a:r>
              <a:rPr dirty="0"/>
              <a:t> business value </a:t>
            </a:r>
            <a:r>
              <a:rPr dirty="0" err="1"/>
              <a:t>của</a:t>
            </a:r>
            <a:r>
              <a:rPr dirty="0"/>
              <a:t> candidate.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70">
                <a:solidFill>
                  <a:srgbClr val="2B3341"/>
                </a:solidFill>
                <a:latin typeface="Aptos"/>
              </a:defRPr>
            </a:pPr>
            <a:r>
              <a:rPr dirty="0"/>
              <a:t>• Sample weight </a:t>
            </a: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 user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675886"/>
            <a:ext cx="3429000" cy="2736946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3781886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dirty="0">
                <a:solidFill>
                  <a:srgbClr val="685094"/>
                </a:solidFill>
                <a:latin typeface="Aptos"/>
              </a:rPr>
              <a:t>RSPO · List-wise Preference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4325112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40">
                <a:solidFill>
                  <a:srgbClr val="2B3341"/>
                </a:solidFill>
                <a:latin typeface="Aptos"/>
              </a:defRPr>
            </a:pPr>
            <a:r>
              <a:rPr dirty="0"/>
              <a:t>• VSL </a:t>
            </a:r>
            <a:r>
              <a:rPr dirty="0" err="1"/>
              <a:t>chủ</a:t>
            </a:r>
            <a:r>
              <a:rPr dirty="0"/>
              <a:t> </a:t>
            </a:r>
            <a:r>
              <a:rPr dirty="0" err="1"/>
              <a:t>yếu</a:t>
            </a:r>
            <a:r>
              <a:rPr dirty="0"/>
              <a:t> fit logged distribution;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downstream objective.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40">
                <a:solidFill>
                  <a:srgbClr val="2B3341"/>
                </a:solidFill>
                <a:latin typeface="Aptos"/>
              </a:defRPr>
            </a:pPr>
            <a:r>
              <a:rPr dirty="0"/>
              <a:t>• RSPO </a:t>
            </a:r>
            <a:r>
              <a:rPr dirty="0" err="1"/>
              <a:t>dùng</a:t>
            </a:r>
            <a:r>
              <a:rPr dirty="0"/>
              <a:t> reward (</a:t>
            </a:r>
            <a:r>
              <a:rPr dirty="0" err="1"/>
              <a:t>eCPM</a:t>
            </a:r>
            <a:r>
              <a:rPr dirty="0"/>
              <a:t>)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candidate list </a:t>
            </a:r>
            <a:r>
              <a:rPr dirty="0" err="1"/>
              <a:t>và</a:t>
            </a:r>
            <a:r>
              <a:rPr dirty="0"/>
              <a:t> align objective </a:t>
            </a:r>
            <a:r>
              <a:rPr dirty="0" err="1"/>
              <a:t>với</a:t>
            </a:r>
            <a:r>
              <a:rPr dirty="0"/>
              <a:t> ranking/NDCG.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40">
                <a:solidFill>
                  <a:srgbClr val="2B3341"/>
                </a:solidFill>
                <a:latin typeface="Aptos"/>
              </a:defRPr>
            </a:pPr>
            <a:r>
              <a:rPr dirty="0"/>
              <a:t>• Cho </a:t>
            </a:r>
            <a:r>
              <a:rPr dirty="0" err="1"/>
              <a:t>phép</a:t>
            </a:r>
            <a:r>
              <a:rPr dirty="0"/>
              <a:t> controlled exploration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model </a:t>
            </a:r>
            <a:r>
              <a:rPr dirty="0" err="1"/>
              <a:t>gần</a:t>
            </a:r>
            <a:r>
              <a:rPr dirty="0"/>
              <a:t> distribution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6492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92C4F"/>
                </a:solidFill>
                <a:latin typeface="Aptos"/>
              </a:rPr>
              <a:t>Mục tiêu cuối: sinh một ranked set có giá trị, không chỉ một tập candidate liên quan.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6442792"/>
            <a:ext cx="3931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 err="1">
                <a:solidFill>
                  <a:srgbClr val="676F7B"/>
                </a:solidFill>
                <a:latin typeface="Aptos"/>
              </a:rPr>
              <a:t>Nguồn</a:t>
            </a:r>
            <a:r>
              <a:rPr sz="950" b="0" dirty="0">
                <a:solidFill>
                  <a:srgbClr val="676F7B"/>
                </a:solidFill>
                <a:latin typeface="Aptos"/>
              </a:rPr>
              <a:t>: GR4AD, §3.3–3.4 &amp; Fig.1 · arXiv:2602.22732v3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20E899-DFD9-21DC-F7B6-344553B3F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849" y="5396213"/>
            <a:ext cx="3447869" cy="1318303"/>
          </a:xfrm>
          <a:prstGeom prst="rect">
            <a:avLst/>
          </a:prstGeom>
        </p:spPr>
      </p:pic>
      <p:pic>
        <p:nvPicPr>
          <p:cNvPr id="40" name="Picture 39" descr="GR4AD_Figure4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18740"/>
            <a:ext cx="6583680" cy="408378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Production — Index freshness + Dynamic Beam Serving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829" y="685221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GR4AD co-design cả model và serving để giữ chất lượng dưới latency / traffic budget thực tế.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57225" y="1266263"/>
            <a:ext cx="4297680" cy="379476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77265" y="1533808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 dirty="0">
                <a:solidFill>
                  <a:srgbClr val="406FB2"/>
                </a:solidFill>
                <a:latin typeface="Aptos"/>
              </a:rPr>
              <a:t>Các trick production </a:t>
            </a:r>
            <a:r>
              <a:rPr sz="1750" b="1" dirty="0" err="1">
                <a:solidFill>
                  <a:srgbClr val="406FB2"/>
                </a:solidFill>
                <a:latin typeface="Aptos"/>
              </a:rPr>
              <a:t>quan</a:t>
            </a:r>
            <a:r>
              <a:rPr sz="1750" b="1" dirty="0">
                <a:solidFill>
                  <a:srgbClr val="406FB2"/>
                </a:solidFill>
                <a:latin typeface="Aptos"/>
              </a:rPr>
              <a:t> </a:t>
            </a:r>
            <a:r>
              <a:rPr sz="1750" b="1" dirty="0" err="1">
                <a:solidFill>
                  <a:srgbClr val="406FB2"/>
                </a:solidFill>
                <a:latin typeface="Aptos"/>
              </a:rPr>
              <a:t>trọng</a:t>
            </a:r>
            <a:endParaRPr sz="1750" b="1" dirty="0">
              <a:solidFill>
                <a:srgbClr val="406FB2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49833" y="1927000"/>
            <a:ext cx="3657600" cy="2895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33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New ad: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compute UA-SID </a:t>
            </a:r>
            <a:r>
              <a:rPr dirty="0" err="1"/>
              <a:t>từ</a:t>
            </a:r>
            <a:r>
              <a:rPr dirty="0"/>
              <a:t> content </a:t>
            </a:r>
            <a:r>
              <a:rPr dirty="0" err="1"/>
              <a:t>rồi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index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chiều</a:t>
            </a:r>
            <a:r>
              <a:rPr dirty="0"/>
              <a:t>; paper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tả</a:t>
            </a:r>
            <a:r>
              <a:rPr dirty="0"/>
              <a:t> refresh ở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giây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rebuild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index.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3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Dynamic Beam Width: </a:t>
            </a:r>
            <a:r>
              <a:rPr dirty="0"/>
              <a:t>beam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dần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level (</a:t>
            </a:r>
            <a:r>
              <a:rPr dirty="0" err="1"/>
              <a:t>vd</a:t>
            </a:r>
            <a:r>
              <a:rPr dirty="0"/>
              <a:t>. 128 → 256 → 512)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compute ở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bước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3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Traffic-Aware Adaptive Beam Search: </a:t>
            </a:r>
            <a:r>
              <a:rPr dirty="0" err="1"/>
              <a:t>tự</a:t>
            </a:r>
            <a:r>
              <a:rPr dirty="0"/>
              <a:t> scale beam </a:t>
            </a:r>
            <a:r>
              <a:rPr dirty="0" err="1"/>
              <a:t>theo</a:t>
            </a:r>
            <a:r>
              <a:rPr dirty="0"/>
              <a:t> QPS / compute slack ở peak </a:t>
            </a:r>
            <a:r>
              <a:rPr dirty="0" err="1"/>
              <a:t>và</a:t>
            </a:r>
            <a:r>
              <a:rPr dirty="0"/>
              <a:t> off-peak.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3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cache </a:t>
            </a:r>
            <a:r>
              <a:rPr dirty="0" err="1"/>
              <a:t>và</a:t>
            </a:r>
            <a:r>
              <a:rPr dirty="0"/>
              <a:t> concurrency optimization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vòng</a:t>
            </a:r>
            <a:r>
              <a:rPr dirty="0"/>
              <a:t> </a:t>
            </a:r>
            <a:r>
              <a:rPr dirty="0" err="1"/>
              <a:t>realtime</a:t>
            </a:r>
            <a:r>
              <a:rPr dirty="0"/>
              <a:t> serving.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CB549E-1827-E71A-EF95-7486A433B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956388"/>
            <a:ext cx="6833160" cy="5211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766D9B-2C6F-3256-1D43-1382D963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744" y="1292655"/>
            <a:ext cx="5258256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88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lightsage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2" y="2125239"/>
            <a:ext cx="7498079" cy="2881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1064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92C4F"/>
                </a:solidFill>
                <a:latin typeface="Aptos"/>
              </a:rPr>
              <a:t>LightSAGE — Vector retrieval vẫn rất mạnh nếu graph đủ tốt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31520"/>
            <a:ext cx="10881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676F7B"/>
                </a:solidFill>
                <a:latin typeface="Aptos"/>
              </a:rPr>
              <a:t>Shopee tập trung vào graph construction, data sparsity và long-tail thay vì chỉ đổi model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53312"/>
            <a:ext cx="3474720" cy="443484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60020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68461"/>
                </a:solidFill>
                <a:latin typeface="Aptos"/>
              </a:rPr>
              <a:t>Điểm đáng chú 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965960"/>
            <a:ext cx="2880360" cy="378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340">
                <a:solidFill>
                  <a:srgbClr val="2B3341"/>
                </a:solidFill>
                <a:latin typeface="Aptos"/>
              </a:defRPr>
            </a:pPr>
            <a:r>
              <a:rPr dirty="0"/>
              <a:t>• Graph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strong-signal clicks,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 </a:t>
            </a:r>
            <a:r>
              <a:rPr dirty="0" err="1"/>
              <a:t>bổ</a:t>
            </a:r>
            <a:r>
              <a:rPr dirty="0"/>
              <a:t> sung high-precision CF links (Swing, Search CF)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density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precision.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 err="1"/>
              <a:t>LightSAGE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item embedding </a:t>
            </a:r>
            <a:r>
              <a:rPr dirty="0" err="1"/>
              <a:t>rồi</a:t>
            </a:r>
            <a:r>
              <a:rPr dirty="0"/>
              <a:t> retrieval </a:t>
            </a:r>
            <a:r>
              <a:rPr dirty="0" err="1"/>
              <a:t>bằng</a:t>
            </a:r>
            <a:r>
              <a:rPr dirty="0"/>
              <a:t> ANN — serving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giản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quen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40">
                <a:solidFill>
                  <a:srgbClr val="2B334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Long-tail</a:t>
            </a:r>
            <a:r>
              <a:rPr dirty="0"/>
              <a:t>: </a:t>
            </a:r>
            <a:r>
              <a:rPr dirty="0" err="1"/>
              <a:t>nếu</a:t>
            </a:r>
            <a:r>
              <a:rPr dirty="0"/>
              <a:t>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graph signal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content </a:t>
            </a:r>
            <a:r>
              <a:rPr dirty="0" err="1"/>
              <a:t>để</a:t>
            </a:r>
            <a:r>
              <a:rPr dirty="0"/>
              <a:t> map sang seed embeddings;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behavior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daily inference graph </a:t>
            </a:r>
            <a:r>
              <a:rPr dirty="0" err="1"/>
              <a:t>để</a:t>
            </a:r>
            <a:r>
              <a:rPr dirty="0"/>
              <a:t> aggregate neighbors.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40">
                <a:solidFill>
                  <a:srgbClr val="2B3341"/>
                </a:solidFill>
                <a:latin typeface="Aptos"/>
              </a:defRPr>
            </a:pPr>
            <a:r>
              <a:rPr dirty="0"/>
              <a:t>• Paper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graph construction + tail handling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rất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GNN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5888736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192C4F"/>
                </a:solidFill>
                <a:latin typeface="Aptos"/>
              </a:rPr>
              <a:t>+5% ads revenue · +1% ads orders </a:t>
            </a:r>
            <a:r>
              <a:rPr sz="1300" b="1" dirty="0" err="1">
                <a:solidFill>
                  <a:srgbClr val="192C4F"/>
                </a:solidFill>
                <a:latin typeface="Aptos"/>
              </a:rPr>
              <a:t>trong</a:t>
            </a:r>
            <a:r>
              <a:rPr sz="1300" b="1" dirty="0">
                <a:solidFill>
                  <a:srgbClr val="192C4F"/>
                </a:solidFill>
                <a:latin typeface="Aptos"/>
              </a:rPr>
              <a:t> online A/B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1574</Words>
  <Application>Microsoft Office PowerPoint</Application>
  <PresentationFormat>Widescreen</PresentationFormat>
  <Paragraphs>91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Retrieval: TIGER → GR4AD → OneSearch-V2</dc:title>
  <dc:subject>Generative Retrieval: TIGER, GR4AD, OneSearch-V2, LightSAGE</dc:subject>
  <dc:creator>OpenAI</dc:creator>
  <cp:lastModifiedBy>HoangNam</cp:lastModifiedBy>
  <cp:revision>32</cp:revision>
  <dcterms:created xsi:type="dcterms:W3CDTF">2026-08-17T08:44:29Z</dcterms:created>
  <dcterms:modified xsi:type="dcterms:W3CDTF">2026-08-18T09:19:21Z</dcterms:modified>
</cp:coreProperties>
</file>