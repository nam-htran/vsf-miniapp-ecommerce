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5" r:id="rId2"/>
    <p:sldId id="278" r:id="rId3"/>
    <p:sldId id="279" r:id="rId4"/>
    <p:sldId id="277" r:id="rId5"/>
    <p:sldId id="276" r:id="rId6"/>
    <p:sldId id="256" r:id="rId7"/>
    <p:sldId id="270" r:id="rId8"/>
    <p:sldId id="274" r:id="rId9"/>
    <p:sldId id="266" r:id="rId10"/>
    <p:sldId id="258" r:id="rId11"/>
    <p:sldId id="259" r:id="rId12"/>
    <p:sldId id="260" r:id="rId13"/>
    <p:sldId id="262" r:id="rId14"/>
    <p:sldId id="267" r:id="rId15"/>
    <p:sldId id="272" r:id="rId16"/>
    <p:sldId id="268" r:id="rId17"/>
    <p:sldId id="269" r:id="rId18"/>
    <p:sldId id="263" r:id="rId19"/>
    <p:sldId id="273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88" autoAdjust="0"/>
    <p:restoredTop sz="95033" autoAdjust="0"/>
  </p:normalViewPr>
  <p:slideViewPr>
    <p:cSldViewPr snapToGrid="0" snapToObjects="1">
      <p:cViewPr varScale="1">
        <p:scale>
          <a:sx n="96" d="100"/>
          <a:sy n="96" d="100"/>
        </p:scale>
        <p:origin x="1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3269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D0D55-0FDA-5E5C-F8B1-52A0CC654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FC03FA-CB34-5606-E886-F292965776CB}"/>
              </a:ext>
            </a:extLst>
          </p:cNvPr>
          <p:cNvSpPr txBox="1"/>
          <p:nvPr/>
        </p:nvSpPr>
        <p:spPr>
          <a:xfrm>
            <a:off x="4547338" y="3013501"/>
            <a:ext cx="26260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/>
              <a:t>MINIAPP</a:t>
            </a:r>
          </a:p>
        </p:txBody>
      </p:sp>
    </p:spTree>
    <p:extLst>
      <p:ext uri="{BB962C8B-B14F-4D97-AF65-F5344CB8AC3E}">
        <p14:creationId xmlns:p14="http://schemas.microsoft.com/office/powerpoint/2010/main" val="1909676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2BAC9D9-1F7F-F01A-DAF2-48FCE2084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719" y="111968"/>
            <a:ext cx="6834562" cy="674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689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B8AF3B-9BF8-46E1-F863-8B1119CBC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921" y="130628"/>
            <a:ext cx="8424785" cy="672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00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3AFE5B-2010-8BFB-6B0C-CC718BFEE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947" y="200024"/>
            <a:ext cx="7098106" cy="665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119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5A3CF-61C0-FE32-92EB-F0EBA096F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D7B2F1-8331-B0B5-EF14-37243A469482}"/>
              </a:ext>
            </a:extLst>
          </p:cNvPr>
          <p:cNvSpPr txBox="1"/>
          <p:nvPr/>
        </p:nvSpPr>
        <p:spPr>
          <a:xfrm>
            <a:off x="3061438" y="3013501"/>
            <a:ext cx="65535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/>
              <a:t>AI-RECOMMENDATION</a:t>
            </a:r>
          </a:p>
        </p:txBody>
      </p:sp>
    </p:spTree>
    <p:extLst>
      <p:ext uri="{BB962C8B-B14F-4D97-AF65-F5344CB8AC3E}">
        <p14:creationId xmlns:p14="http://schemas.microsoft.com/office/powerpoint/2010/main" val="1063513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4399C4-FF93-2DB0-5B86-6A849D8AFF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17" y="149290"/>
            <a:ext cx="11908166" cy="67053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V-Market: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RQ-VAE sinh Semantic ID, Transformer dự đoán SID kế tiếp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829" y="685221"/>
            <a:ext cx="11064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Cài đặt lại TIGER trên catalog thật của V-Market: Jina 256-D → 3 codebook [128, 64, 32] → T5 4 layer, d_model 384, 6 head, beam top-10.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0000"/>
            <a:ext cx="12192000" cy="5247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951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0F3DC9-56E6-53EB-32D3-7176F9F7B97E}"/>
              </a:ext>
            </a:extLst>
          </p:cNvPr>
          <p:cNvSpPr txBox="1"/>
          <p:nvPr/>
        </p:nvSpPr>
        <p:spPr>
          <a:xfrm>
            <a:off x="4547338" y="3013501"/>
            <a:ext cx="30973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29536803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mnt/data/lightsage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2" y="2125239"/>
            <a:ext cx="7498079" cy="28818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LightSAGE — Vector retrieval vẫn rất mạnh nếu graph đủ tốt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Shopee tập trung vào graph construction, data sparsity và long-tail thay vì chỉ đổi model architecture.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53312"/>
            <a:ext cx="3474720" cy="443484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94192" y="1600200"/>
            <a:ext cx="29260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68461"/>
                </a:solidFill>
                <a:latin typeface="Aptos"/>
              </a:rPr>
              <a:t>Điểm đáng chú 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965960"/>
            <a:ext cx="2880360" cy="378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Graph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strong-signal clicks, </a:t>
            </a:r>
            <a:r>
              <a:rPr dirty="0" err="1"/>
              <a:t>sau</a:t>
            </a:r>
            <a:r>
              <a:rPr dirty="0"/>
              <a:t> </a:t>
            </a:r>
            <a:r>
              <a:rPr dirty="0" err="1"/>
              <a:t>đó</a:t>
            </a:r>
            <a:r>
              <a:rPr dirty="0"/>
              <a:t> </a:t>
            </a:r>
            <a:r>
              <a:rPr dirty="0" err="1"/>
              <a:t>bổ</a:t>
            </a:r>
            <a:r>
              <a:rPr dirty="0"/>
              <a:t> sung high-precision CF links (Swing, Search CF)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density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precision.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 err="1"/>
              <a:t>LightSAGE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item embedding </a:t>
            </a:r>
            <a:r>
              <a:rPr dirty="0" err="1"/>
              <a:t>rồi</a:t>
            </a:r>
            <a:r>
              <a:rPr dirty="0"/>
              <a:t> retrieval </a:t>
            </a:r>
            <a:r>
              <a:rPr dirty="0" err="1"/>
              <a:t>bằng</a:t>
            </a:r>
            <a:r>
              <a:rPr dirty="0"/>
              <a:t> ANN — serving </a:t>
            </a:r>
            <a:r>
              <a:rPr dirty="0" err="1"/>
              <a:t>đơn</a:t>
            </a:r>
            <a:r>
              <a:rPr dirty="0"/>
              <a:t> </a:t>
            </a:r>
            <a:r>
              <a:rPr dirty="0" err="1"/>
              <a:t>giản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quen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Long-tail</a:t>
            </a:r>
            <a:r>
              <a:rPr dirty="0"/>
              <a:t>: </a:t>
            </a:r>
            <a:r>
              <a:rPr dirty="0" err="1"/>
              <a:t>nếu</a:t>
            </a:r>
            <a:r>
              <a:rPr dirty="0"/>
              <a:t>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graph signal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content </a:t>
            </a:r>
            <a:r>
              <a:rPr dirty="0" err="1"/>
              <a:t>để</a:t>
            </a:r>
            <a:r>
              <a:rPr dirty="0"/>
              <a:t> map sang seed embeddings;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behavior </a:t>
            </a:r>
            <a:r>
              <a:rPr dirty="0" err="1"/>
              <a:t>mới</a:t>
            </a:r>
            <a:r>
              <a:rPr dirty="0"/>
              <a:t>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daily inference graph </a:t>
            </a:r>
            <a:r>
              <a:rPr dirty="0" err="1"/>
              <a:t>để</a:t>
            </a:r>
            <a:r>
              <a:rPr dirty="0"/>
              <a:t> aggregate neighbors.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Paper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thấy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graph construction + tail handling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góp</a:t>
            </a:r>
            <a:r>
              <a:rPr dirty="0"/>
              <a:t> </a:t>
            </a:r>
            <a:r>
              <a:rPr dirty="0" err="1"/>
              <a:t>rất</a:t>
            </a:r>
            <a:r>
              <a:rPr dirty="0"/>
              <a:t> </a:t>
            </a:r>
            <a:r>
              <a:rPr dirty="0" err="1"/>
              <a:t>lớn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riêng</a:t>
            </a:r>
            <a:r>
              <a:rPr dirty="0"/>
              <a:t> GNN architecture.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5888736"/>
            <a:ext cx="2880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>
                <a:solidFill>
                  <a:srgbClr val="192C4F"/>
                </a:solidFill>
                <a:latin typeface="Aptos"/>
              </a:rPr>
              <a:t>+5% ads revenue · +1% ads orders </a:t>
            </a:r>
            <a:r>
              <a:rPr sz="1300" b="1" dirty="0" err="1">
                <a:solidFill>
                  <a:srgbClr val="192C4F"/>
                </a:solidFill>
                <a:latin typeface="Aptos"/>
              </a:rPr>
              <a:t>trong</a:t>
            </a:r>
            <a:r>
              <a:rPr sz="1300" b="1" dirty="0">
                <a:solidFill>
                  <a:srgbClr val="192C4F"/>
                </a:solidFill>
                <a:latin typeface="Aptos"/>
              </a:rPr>
              <a:t> online A/B test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5BFC5F-21D6-106A-1507-CE769E81D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240028"/>
            <a:ext cx="4763588" cy="3368827"/>
          </a:xfrm>
          <a:prstGeom prst="rect">
            <a:avLst/>
          </a:prstGeom>
        </p:spPr>
      </p:pic>
      <p:pic>
        <p:nvPicPr>
          <p:cNvPr id="26" name="Picture 25" descr="TIGER_Fi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87" y="1240028"/>
            <a:ext cx="5236341" cy="23928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0870" y="295606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TIGER: Semantic ID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—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Biến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retrieval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thành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bài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toán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generation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870" y="764540"/>
            <a:ext cx="10881360" cy="3000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dirty="0">
                <a:solidFill>
                  <a:srgbClr val="676F7B"/>
                </a:solidFill>
                <a:latin typeface="Aptos"/>
              </a:rPr>
              <a:t>Thay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vì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tìm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vector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gần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nhất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bằng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ANN, model </a:t>
            </a:r>
            <a:r>
              <a:rPr lang="vi-VN" sz="1350" b="0" dirty="0">
                <a:solidFill>
                  <a:srgbClr val="676F7B"/>
                </a:solidFill>
                <a:latin typeface="Aptos"/>
              </a:rPr>
              <a:t>sinh/phân loại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trực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Semantic ID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của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item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theo.</a:t>
            </a:r>
            <a:endParaRPr sz="1350" b="0" dirty="0">
              <a:solidFill>
                <a:srgbClr val="676F7B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02791" y="6395939"/>
            <a:ext cx="11349134" cy="28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en-US" sz="1200" dirty="0"/>
              <a:t>RQ-VAE </a:t>
            </a:r>
            <a:r>
              <a:rPr lang="en-US" sz="1200" dirty="0" err="1"/>
              <a:t>là</a:t>
            </a:r>
            <a:r>
              <a:rPr lang="en-US" sz="1200" dirty="0"/>
              <a:t> </a:t>
            </a:r>
            <a:r>
              <a:rPr lang="en-US" sz="1200" dirty="0" err="1"/>
              <a:t>cách</a:t>
            </a:r>
            <a:r>
              <a:rPr lang="en-US" sz="1200" dirty="0"/>
              <a:t> TIGER </a:t>
            </a:r>
            <a:r>
              <a:rPr lang="en-US" sz="1200" dirty="0" err="1"/>
              <a:t>tạo</a:t>
            </a:r>
            <a:r>
              <a:rPr lang="en-US" sz="1200" dirty="0"/>
              <a:t> Semantic ID </a:t>
            </a:r>
            <a:r>
              <a:rPr lang="en-US" sz="1200" dirty="0" err="1"/>
              <a:t>sao</a:t>
            </a:r>
            <a:r>
              <a:rPr lang="en-US" sz="1200" dirty="0"/>
              <a:t> </a:t>
            </a:r>
            <a:r>
              <a:rPr lang="en-US" sz="1200" dirty="0" err="1"/>
              <a:t>cho</a:t>
            </a:r>
            <a:r>
              <a:rPr lang="en-US" sz="1200" dirty="0"/>
              <a:t> item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 </a:t>
            </a:r>
            <a:r>
              <a:rPr lang="en-US" sz="1200" dirty="0" err="1"/>
              <a:t>trong</a:t>
            </a:r>
            <a:r>
              <a:rPr lang="en-US" sz="1200" dirty="0"/>
              <a:t> embedding space </a:t>
            </a:r>
            <a:r>
              <a:rPr lang="en-US" sz="1200" dirty="0" err="1"/>
              <a:t>có</a:t>
            </a:r>
            <a:r>
              <a:rPr lang="en-US" sz="1200" dirty="0"/>
              <a:t> SID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, </a:t>
            </a:r>
            <a:r>
              <a:rPr lang="en-US" sz="1200" dirty="0" err="1"/>
              <a:t>theo</a:t>
            </a:r>
            <a:r>
              <a:rPr lang="en-US" sz="1200" dirty="0"/>
              <a:t> </a:t>
            </a:r>
            <a:r>
              <a:rPr lang="en-US" sz="1200" dirty="0" err="1"/>
              <a:t>cấu</a:t>
            </a:r>
            <a:r>
              <a:rPr lang="en-US" sz="1200" dirty="0"/>
              <a:t> </a:t>
            </a:r>
            <a:r>
              <a:rPr lang="en-US" sz="1200" dirty="0" err="1"/>
              <a:t>trúc</a:t>
            </a:r>
            <a:r>
              <a:rPr lang="en-US" sz="1200" dirty="0"/>
              <a:t> </a:t>
            </a:r>
            <a:r>
              <a:rPr lang="vi-VN" sz="1200" dirty="0"/>
              <a:t>SID level thưa tới chi tiết: coarse -&gt; fine</a:t>
            </a:r>
            <a:endParaRPr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4C007-68EE-62E9-92BC-D115AB0845C0}"/>
              </a:ext>
            </a:extLst>
          </p:cNvPr>
          <p:cNvSpPr txBox="1"/>
          <p:nvPr/>
        </p:nvSpPr>
        <p:spPr>
          <a:xfrm>
            <a:off x="10930454" y="2436446"/>
            <a:ext cx="10039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vi-VN" sz="1200" dirty="0"/>
              <a:t>Hơi giống: K-Mean</a:t>
            </a:r>
            <a:endParaRPr sz="1200" dirty="0"/>
          </a:p>
        </p:txBody>
      </p:sp>
      <p:pic>
        <p:nvPicPr>
          <p:cNvPr id="7" name="Image 0" descr="/mnt/data/tiger_semantic_id_cropped.png">
            <a:extLst>
              <a:ext uri="{FF2B5EF4-FFF2-40B4-BE49-F238E27FC236}">
                <a16:creationId xmlns:a16="http://schemas.microsoft.com/office/drawing/2014/main" id="{3C9DE774-4421-E795-186A-A019B9DCF1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687" y="3942065"/>
            <a:ext cx="5236342" cy="2106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9E73D6-E30C-1CE8-E400-620A248EA18A}"/>
              </a:ext>
            </a:extLst>
          </p:cNvPr>
          <p:cNvSpPr txBox="1"/>
          <p:nvPr/>
        </p:nvSpPr>
        <p:spPr>
          <a:xfrm>
            <a:off x="6337816" y="4663507"/>
            <a:ext cx="466297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Item </a:t>
            </a:r>
            <a:r>
              <a:rPr lang="en-US" sz="1400" dirty="0" err="1"/>
              <a:t>tương</a:t>
            </a:r>
            <a:r>
              <a:rPr lang="en-US" sz="1400" dirty="0"/>
              <a:t> </a:t>
            </a:r>
            <a:r>
              <a:rPr lang="en-US" sz="1400" dirty="0" err="1"/>
              <a:t>tự</a:t>
            </a:r>
            <a:r>
              <a:rPr lang="en-US" sz="1400" dirty="0"/>
              <a:t> → </a:t>
            </a:r>
            <a:r>
              <a:rPr lang="en-US" sz="1400" b="1" dirty="0" err="1"/>
              <a:t>có</a:t>
            </a:r>
            <a:r>
              <a:rPr lang="en-US" sz="1400" b="1" dirty="0"/>
              <a:t> </a:t>
            </a:r>
            <a:r>
              <a:rPr lang="en-US" sz="1400" b="1" dirty="0" err="1"/>
              <a:t>thể</a:t>
            </a:r>
            <a:r>
              <a:rPr lang="en-US" sz="1400" b="1" dirty="0"/>
              <a:t> share </a:t>
            </a:r>
            <a:r>
              <a:rPr lang="en-US" sz="1400" b="1" dirty="0" err="1"/>
              <a:t>một</a:t>
            </a:r>
            <a:r>
              <a:rPr lang="en-US" sz="1400" b="1" dirty="0"/>
              <a:t> </a:t>
            </a:r>
            <a:r>
              <a:rPr lang="en-US" sz="1400" b="1" dirty="0" err="1"/>
              <a:t>phần</a:t>
            </a:r>
            <a:r>
              <a:rPr lang="en-US" sz="1400" b="1" dirty="0"/>
              <a:t> SID</a:t>
            </a:r>
            <a:r>
              <a:rPr lang="en-US" sz="1400" dirty="0"/>
              <a:t> → chia </a:t>
            </a:r>
            <a:r>
              <a:rPr lang="en-US" sz="1400" dirty="0" err="1"/>
              <a:t>sẻ</a:t>
            </a:r>
            <a:r>
              <a:rPr lang="en-US" sz="1400" dirty="0"/>
              <a:t> knowledge.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SID </a:t>
            </a:r>
            <a:r>
              <a:rPr lang="en-US" sz="1400" dirty="0" err="1"/>
              <a:t>sinh</a:t>
            </a:r>
            <a:r>
              <a:rPr lang="en-US" sz="1400" dirty="0"/>
              <a:t> </a:t>
            </a:r>
            <a:r>
              <a:rPr lang="en-US" sz="1400" dirty="0" err="1"/>
              <a:t>từ</a:t>
            </a:r>
            <a:r>
              <a:rPr lang="en-US" sz="1400" dirty="0"/>
              <a:t> </a:t>
            </a:r>
            <a:r>
              <a:rPr lang="en-US" sz="1400" b="1" dirty="0"/>
              <a:t>item content</a:t>
            </a:r>
            <a:r>
              <a:rPr lang="en-US" sz="1400" dirty="0"/>
              <a:t> → </a:t>
            </a:r>
            <a:r>
              <a:rPr lang="en-US" sz="1400" dirty="0" err="1"/>
              <a:t>hỗ</a:t>
            </a:r>
            <a:r>
              <a:rPr lang="en-US" sz="1400" dirty="0"/>
              <a:t> </a:t>
            </a:r>
            <a:r>
              <a:rPr lang="en-US" sz="1400" dirty="0" err="1"/>
              <a:t>trợ</a:t>
            </a:r>
            <a:r>
              <a:rPr lang="en-US" sz="1400" dirty="0"/>
              <a:t> </a:t>
            </a:r>
            <a:r>
              <a:rPr lang="en-US" sz="1400" b="1" dirty="0"/>
              <a:t>new / infrequent items</a:t>
            </a:r>
            <a:r>
              <a:rPr lang="en-US" sz="1400" dirty="0"/>
              <a:t> </a:t>
            </a:r>
            <a:r>
              <a:rPr lang="en-US" sz="1400" dirty="0" err="1"/>
              <a:t>tốt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Một</a:t>
            </a:r>
            <a:r>
              <a:rPr lang="en-US" sz="1400" dirty="0"/>
              <a:t> vocabulary </a:t>
            </a:r>
            <a:r>
              <a:rPr lang="en-US" sz="1400" dirty="0" err="1"/>
              <a:t>nhỏ</a:t>
            </a:r>
            <a:r>
              <a:rPr lang="en-US" sz="1400" dirty="0"/>
              <a:t> </a:t>
            </a:r>
            <a:r>
              <a:rPr lang="en-US" sz="1400" dirty="0" err="1"/>
              <a:t>của</a:t>
            </a:r>
            <a:r>
              <a:rPr lang="en-US" sz="1400" dirty="0"/>
              <a:t> codewords </a:t>
            </a:r>
            <a:r>
              <a:rPr lang="en-US" sz="1400" dirty="0" err="1"/>
              <a:t>có</a:t>
            </a:r>
            <a:r>
              <a:rPr lang="en-US" sz="1400" dirty="0"/>
              <a:t> </a:t>
            </a:r>
            <a:r>
              <a:rPr lang="en-US" sz="1400" dirty="0" err="1"/>
              <a:t>thể</a:t>
            </a:r>
            <a:r>
              <a:rPr lang="en-US" sz="1400" dirty="0"/>
              <a:t> </a:t>
            </a:r>
            <a:r>
              <a:rPr lang="en-US" sz="1400" dirty="0" err="1"/>
              <a:t>biểu</a:t>
            </a:r>
            <a:r>
              <a:rPr lang="en-US" sz="1400" dirty="0"/>
              <a:t> </a:t>
            </a:r>
            <a:r>
              <a:rPr lang="en-US" sz="1400" dirty="0" err="1"/>
              <a:t>diễn</a:t>
            </a:r>
            <a:r>
              <a:rPr lang="en-US" sz="1400" dirty="0"/>
              <a:t> </a:t>
            </a:r>
            <a:r>
              <a:rPr lang="en-US" sz="1400" b="1" dirty="0"/>
              <a:t>catalog </a:t>
            </a:r>
            <a:r>
              <a:rPr lang="en-US" sz="1400" b="1" dirty="0" err="1"/>
              <a:t>rất</a:t>
            </a:r>
            <a:r>
              <a:rPr lang="en-US" sz="1400" b="1" dirty="0"/>
              <a:t> </a:t>
            </a:r>
            <a:r>
              <a:rPr lang="en-US" sz="1400" b="1" dirty="0" err="1"/>
              <a:t>lớn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75746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TIGER_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25" y="1658983"/>
            <a:ext cx="10960549" cy="426315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36089" y="35307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vi-VN" sz="2400" b="1" dirty="0">
                <a:solidFill>
                  <a:srgbClr val="192C4F"/>
                </a:solidFill>
                <a:latin typeface="Aptos"/>
              </a:rPr>
              <a:t>TIGER: RQ-VAE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428546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TIGER_Fig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315200" cy="3886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vi-VN" sz="2400" b="1" dirty="0">
                <a:solidFill>
                  <a:srgbClr val="192C4F"/>
                </a:solidFill>
                <a:latin typeface="Aptos"/>
              </a:rPr>
              <a:t>TIGER: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Có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SID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rồi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, retrieval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trở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thành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next-token prediction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Phần retrieval phía sau gần như một bài toán seq2seq quen thuộc.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01000" y="1325880"/>
            <a:ext cx="3611880" cy="50749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sz="1600" b="1" dirty="0">
                <a:solidFill>
                  <a:schemeClr val="tx1"/>
                </a:solidFill>
              </a:rPr>
              <a:t>Input:</a:t>
            </a:r>
            <a:r>
              <a:rPr lang="en-US" sz="1600" dirty="0">
                <a:solidFill>
                  <a:schemeClr val="tx1"/>
                </a:solidFill>
              </a:rPr>
              <a:t> User ID + </a:t>
            </a:r>
            <a:r>
              <a:rPr lang="en-US" sz="1600" dirty="0" err="1">
                <a:solidFill>
                  <a:schemeClr val="tx1"/>
                </a:solidFill>
              </a:rPr>
              <a:t>lịch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sử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tương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tác</a:t>
            </a:r>
            <a:r>
              <a:rPr lang="en-US" sz="1600" dirty="0">
                <a:solidFill>
                  <a:schemeClr val="tx1"/>
                </a:solidFill>
              </a:rPr>
              <a:t>, </a:t>
            </a:r>
            <a:r>
              <a:rPr lang="en-US" sz="1600" dirty="0" err="1">
                <a:solidFill>
                  <a:schemeClr val="tx1"/>
                </a:solidFill>
              </a:rPr>
              <a:t>trong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mỗi</a:t>
            </a:r>
            <a:r>
              <a:rPr lang="en-US" sz="1600" dirty="0">
                <a:solidFill>
                  <a:schemeClr val="tx1"/>
                </a:solidFill>
              </a:rPr>
              <a:t> item </a:t>
            </a:r>
            <a:r>
              <a:rPr lang="en-US" sz="1600" dirty="0" err="1">
                <a:solidFill>
                  <a:schemeClr val="tx1"/>
                </a:solidFill>
              </a:rPr>
              <a:t>được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thay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chuỗi</a:t>
            </a:r>
            <a:r>
              <a:rPr lang="en-US" sz="1600" dirty="0">
                <a:solidFill>
                  <a:schemeClr val="tx1"/>
                </a:solidFill>
              </a:rPr>
              <a:t> Semantic ID.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Training:</a:t>
            </a:r>
            <a:r>
              <a:rPr lang="en-US" sz="1600" dirty="0">
                <a:solidFill>
                  <a:schemeClr val="tx1"/>
                </a:solidFill>
              </a:rPr>
              <a:t> Transformer encoder–decoder </a:t>
            </a:r>
            <a:r>
              <a:rPr lang="en-US" sz="1600" dirty="0" err="1">
                <a:solidFill>
                  <a:schemeClr val="tx1"/>
                </a:solidFill>
              </a:rPr>
              <a:t>học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SID </a:t>
            </a:r>
            <a:r>
              <a:rPr lang="en-US" sz="1600" b="1" dirty="0" err="1">
                <a:solidFill>
                  <a:schemeClr val="tx1"/>
                </a:solidFill>
              </a:rPr>
              <a:t>của</a:t>
            </a:r>
            <a:r>
              <a:rPr lang="en-US" sz="1600" b="1" dirty="0">
                <a:solidFill>
                  <a:schemeClr val="tx1"/>
                </a:solidFill>
              </a:rPr>
              <a:t> item </a:t>
            </a:r>
            <a:r>
              <a:rPr lang="en-US" sz="1600" b="1" dirty="0" err="1">
                <a:solidFill>
                  <a:schemeClr val="tx1"/>
                </a:solidFill>
              </a:rPr>
              <a:t>tiếp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theo</a:t>
            </a:r>
            <a:r>
              <a:rPr lang="en-US" sz="1600" b="1" dirty="0">
                <a:solidFill>
                  <a:schemeClr val="tx1"/>
                </a:solidFill>
              </a:rPr>
              <a:t>, token-by-token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cross-entropy.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Inference: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dùng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beam search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để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nhiều</a:t>
            </a:r>
            <a:r>
              <a:rPr lang="en-US" sz="1600" dirty="0">
                <a:solidFill>
                  <a:schemeClr val="tx1"/>
                </a:solidFill>
              </a:rPr>
              <a:t> SID </a:t>
            </a:r>
            <a:r>
              <a:rPr lang="en-US" sz="1600" dirty="0" err="1">
                <a:solidFill>
                  <a:schemeClr val="tx1"/>
                </a:solidFill>
              </a:rPr>
              <a:t>có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xác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suất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cao</a:t>
            </a:r>
            <a:r>
              <a:rPr lang="en-US" sz="1600" dirty="0">
                <a:solidFill>
                  <a:schemeClr val="tx1"/>
                </a:solidFill>
              </a:rPr>
              <a:t> → lookup SID </a:t>
            </a:r>
            <a:r>
              <a:rPr lang="en-US" sz="1600" dirty="0" err="1">
                <a:solidFill>
                  <a:schemeClr val="tx1"/>
                </a:solidFill>
              </a:rPr>
              <a:t>về</a:t>
            </a:r>
            <a:r>
              <a:rPr lang="en-US" sz="1600" dirty="0">
                <a:solidFill>
                  <a:schemeClr val="tx1"/>
                </a:solidFill>
              </a:rPr>
              <a:t> item → </a:t>
            </a:r>
            <a:r>
              <a:rPr lang="en-US" sz="1600" dirty="0" err="1">
                <a:solidFill>
                  <a:schemeClr val="tx1"/>
                </a:solidFill>
              </a:rPr>
              <a:t>lấy</a:t>
            </a:r>
            <a:r>
              <a:rPr lang="en-US" sz="1600" dirty="0">
                <a:solidFill>
                  <a:schemeClr val="tx1"/>
                </a:solidFill>
              </a:rPr>
              <a:t> Top-K recommendation.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7410" y="1682496"/>
            <a:ext cx="2958565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685094"/>
                </a:solidFill>
                <a:latin typeface="Aptos"/>
              </a:rPr>
              <a:t>Train &amp; inference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6458836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TIGER, §3.2 &amp; §4.4 · arXiv:2305.05065</a:t>
            </a:r>
          </a:p>
        </p:txBody>
      </p:sp>
    </p:spTree>
    <p:extLst>
      <p:ext uri="{BB962C8B-B14F-4D97-AF65-F5344CB8AC3E}">
        <p14:creationId xmlns:p14="http://schemas.microsoft.com/office/powerpoint/2010/main" val="39091946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GR4AD_Figure2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05750"/>
            <a:ext cx="4663440" cy="3320730"/>
          </a:xfrm>
          <a:prstGeom prst="rect">
            <a:avLst/>
          </a:prstGeom>
        </p:spPr>
      </p:pic>
      <p:pic>
        <p:nvPicPr>
          <p:cNvPr id="27" name="Picture 26" descr="GR4AD_Figure3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3138777"/>
            <a:ext cx="6172200" cy="22720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Khi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đem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Generative Retrieval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vào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Ads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Paper xác định ba bài toán chính: representation cho Ads, learning theo business value và serving thời gian thực.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779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23371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406FB2"/>
                </a:solidFill>
                <a:latin typeface="Aptos"/>
              </a:rPr>
              <a:t>1 · UA-SID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371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>
                <a:solidFill>
                  <a:srgbClr val="2B3341"/>
                </a:solidFill>
                <a:latin typeface="Aptos"/>
              </a:rPr>
              <a:t>Ad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gồm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video + product + advertiser + business metadata →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representation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riêng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60347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24938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685094"/>
                </a:solidFill>
                <a:latin typeface="Aptos"/>
              </a:rPr>
              <a:t>2 · LazyAR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4938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Giảm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decoding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bắt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phải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tuần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tự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để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throughput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1915" y="1293764"/>
            <a:ext cx="3063240" cy="1135535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26506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CB7D29"/>
                </a:solidFill>
                <a:latin typeface="Aptos"/>
              </a:rPr>
              <a:t>3 · VSL / RSPO / DBS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26506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>
                <a:solidFill>
                  <a:srgbClr val="2B3341"/>
                </a:solidFill>
                <a:latin typeface="Aptos"/>
              </a:rPr>
              <a:t>Học theo eCPM &amp; list-wise reward, rồi điều khiển beam theo compute/traffic.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6355080"/>
            <a:ext cx="3840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Introduction &amp; Fig.1–3 · arXiv:2602.22732v3</a:t>
            </a:r>
          </a:p>
        </p:txBody>
      </p:sp>
    </p:spTree>
    <p:extLst>
      <p:ext uri="{BB962C8B-B14F-4D97-AF65-F5344CB8AC3E}">
        <p14:creationId xmlns:p14="http://schemas.microsoft.com/office/powerpoint/2010/main" val="10279953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6949440" cy="49485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UA-SID — Semantic ID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dành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riêng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cho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quảng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cáo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298448"/>
            <a:ext cx="3886200" cy="521208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1000" y="1536192"/>
            <a:ext cx="3337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406FB2"/>
                </a:solidFill>
                <a:latin typeface="Aptos"/>
              </a:rPr>
              <a:t>UA-SID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gồm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3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lớp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ý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tưởng</a:t>
            </a:r>
            <a:endParaRPr sz="1800" b="1" dirty="0">
              <a:solidFill>
                <a:srgbClr val="406FB2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973568" y="1965960"/>
            <a:ext cx="3310128" cy="4039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UAE</a:t>
            </a:r>
            <a:r>
              <a:rPr dirty="0"/>
              <a:t>: instruction-tune MLLM </a:t>
            </a:r>
            <a:r>
              <a:rPr dirty="0" err="1"/>
              <a:t>để</a:t>
            </a:r>
            <a:r>
              <a:rPr dirty="0"/>
              <a:t> fuse Video + Product + Advertiser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một</a:t>
            </a:r>
            <a:r>
              <a:rPr dirty="0"/>
              <a:t> unified ad embedding.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Co-occurrence learning: </a:t>
            </a:r>
            <a:r>
              <a:rPr dirty="0" err="1"/>
              <a:t>đưa</a:t>
            </a:r>
            <a:r>
              <a:rPr dirty="0"/>
              <a:t> collaborative signal </a:t>
            </a:r>
            <a:r>
              <a:rPr dirty="0" err="1"/>
              <a:t>từ</a:t>
            </a:r>
            <a:r>
              <a:rPr dirty="0"/>
              <a:t> behavior </a:t>
            </a:r>
            <a:r>
              <a:rPr dirty="0" err="1"/>
              <a:t>vào</a:t>
            </a:r>
            <a:r>
              <a:rPr dirty="0"/>
              <a:t> embedding,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content similarity.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MGMR RQ-</a:t>
            </a:r>
            <a:r>
              <a:rPr b="1" dirty="0" err="1"/>
              <a:t>KMeans</a:t>
            </a:r>
            <a:r>
              <a:rPr b="1" dirty="0"/>
              <a:t>: </a:t>
            </a:r>
            <a:r>
              <a:rPr dirty="0" err="1"/>
              <a:t>dùng</a:t>
            </a:r>
            <a:r>
              <a:rPr dirty="0"/>
              <a:t> multi-resolution + balanced K-means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codebook utilization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SID collision.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Layer </a:t>
            </a:r>
            <a:r>
              <a:rPr dirty="0" err="1"/>
              <a:t>cuối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hash </a:t>
            </a:r>
            <a:r>
              <a:rPr dirty="0" err="1"/>
              <a:t>từ</a:t>
            </a:r>
            <a:r>
              <a:rPr dirty="0"/>
              <a:t> non-semantic business fields (</a:t>
            </a:r>
            <a:r>
              <a:rPr dirty="0" err="1"/>
              <a:t>vd</a:t>
            </a:r>
            <a:r>
              <a:rPr dirty="0"/>
              <a:t>. account ID, conversion type), </a:t>
            </a:r>
            <a:r>
              <a:rPr dirty="0" err="1"/>
              <a:t>giúp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biệt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ads </a:t>
            </a:r>
            <a:r>
              <a:rPr dirty="0" err="1"/>
              <a:t>nội</a:t>
            </a:r>
            <a:r>
              <a:rPr dirty="0"/>
              <a:t> dung </a:t>
            </a:r>
            <a:r>
              <a:rPr dirty="0" err="1"/>
              <a:t>giống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delivery </a:t>
            </a:r>
            <a:r>
              <a:rPr dirty="0" err="1"/>
              <a:t>khác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623620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§3.1 &amp; Fig.2 · arXiv:2602.22732v3</a:t>
            </a:r>
          </a:p>
        </p:txBody>
      </p:sp>
    </p:spTree>
    <p:extLst>
      <p:ext uri="{BB962C8B-B14F-4D97-AF65-F5344CB8AC3E}">
        <p14:creationId xmlns:p14="http://schemas.microsoft.com/office/powerpoint/2010/main" val="3341584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160B4-8E67-075A-CE26-899F278D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70F4F30-1C8C-EF7B-9F57-BEF574B169B5}"/>
              </a:ext>
            </a:extLst>
          </p:cNvPr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lang="vi-VN" sz="2400" b="1" dirty="0">
                <a:solidFill>
                  <a:srgbClr val="192C4F"/>
                </a:solidFill>
                <a:latin typeface="Aptos"/>
              </a:rPr>
              <a:t>RQ-Kmean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055D97-1C10-583A-1DCA-BFE72326C7B8}"/>
              </a:ext>
            </a:extLst>
          </p:cNvPr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8D0F8-26A3-0B85-0EA8-7C050C913EF5}"/>
              </a:ext>
            </a:extLst>
          </p:cNvPr>
          <p:cNvSpPr txBox="1"/>
          <p:nvPr/>
        </p:nvSpPr>
        <p:spPr>
          <a:xfrm>
            <a:off x="5971032" y="2034408"/>
            <a:ext cx="609755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Residual K-Means:</a:t>
            </a:r>
            <a:r>
              <a:rPr lang="en-US" sz="1400" dirty="0"/>
              <a:t> </a:t>
            </a:r>
            <a:r>
              <a:rPr lang="en-US" sz="1400" dirty="0" err="1"/>
              <a:t>mỗi</a:t>
            </a:r>
            <a:r>
              <a:rPr lang="en-US" sz="1400" dirty="0"/>
              <a:t> level </a:t>
            </a:r>
            <a:r>
              <a:rPr lang="en-US" sz="1400" dirty="0" err="1"/>
              <a:t>chọn</a:t>
            </a:r>
            <a:r>
              <a:rPr lang="en-US" sz="1400" dirty="0"/>
              <a:t> centroid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nhất</a:t>
            </a:r>
            <a:r>
              <a:rPr lang="en-US" sz="1400" dirty="0"/>
              <a:t> → </a:t>
            </a:r>
            <a:r>
              <a:rPr lang="en-US" sz="1400" dirty="0" err="1"/>
              <a:t>lấy</a:t>
            </a:r>
            <a:r>
              <a:rPr lang="en-US" sz="1400" dirty="0"/>
              <a:t> cluster ID </a:t>
            </a:r>
            <a:r>
              <a:rPr lang="en-US" sz="1400" dirty="0" err="1"/>
              <a:t>làm</a:t>
            </a:r>
            <a:r>
              <a:rPr lang="en-US" sz="1400" dirty="0"/>
              <a:t> token → </a:t>
            </a:r>
            <a:r>
              <a:rPr lang="en-US" sz="1400" dirty="0" err="1"/>
              <a:t>trừ</a:t>
            </a:r>
            <a:r>
              <a:rPr lang="en-US" sz="1400" dirty="0"/>
              <a:t> centroid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tạo</a:t>
            </a:r>
            <a:r>
              <a:rPr lang="en-US" sz="1400" dirty="0"/>
              <a:t> residual </a:t>
            </a:r>
            <a:r>
              <a:rPr lang="en-US" sz="1400" dirty="0" err="1"/>
              <a:t>cho</a:t>
            </a:r>
            <a:r>
              <a:rPr lang="en-US" sz="1400" dirty="0"/>
              <a:t> level </a:t>
            </a:r>
            <a:r>
              <a:rPr lang="en-US" sz="1400" dirty="0" err="1"/>
              <a:t>tiếp</a:t>
            </a:r>
            <a:r>
              <a:rPr lang="en-US" sz="1400" dirty="0"/>
              <a:t> </a:t>
            </a:r>
            <a:r>
              <a:rPr lang="en-US" sz="1400" dirty="0" err="1"/>
              <a:t>theo.</a:t>
            </a:r>
            <a:endParaRPr lang="en-US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Multi-Resolution: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level </a:t>
            </a:r>
            <a:r>
              <a:rPr lang="en-US" sz="1400" dirty="0" err="1"/>
              <a:t>đầu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codebook </a:t>
            </a:r>
            <a:r>
              <a:rPr lang="en-US" sz="1400" dirty="0" err="1"/>
              <a:t>lớn</a:t>
            </a:r>
            <a:r>
              <a:rPr lang="en-US" sz="1400" dirty="0"/>
              <a:t>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bắt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</a:t>
            </a:r>
            <a:r>
              <a:rPr lang="en-US" sz="1400" dirty="0" err="1"/>
              <a:t>yếu</a:t>
            </a:r>
            <a:r>
              <a:rPr lang="en-US" sz="1400" dirty="0"/>
              <a:t> </a:t>
            </a:r>
            <a:r>
              <a:rPr lang="en-US" sz="1400" dirty="0" err="1"/>
              <a:t>tố</a:t>
            </a:r>
            <a:r>
              <a:rPr lang="en-US" sz="1400" dirty="0"/>
              <a:t> semantic </a:t>
            </a:r>
            <a:r>
              <a:rPr lang="en-US" sz="1400" dirty="0" err="1"/>
              <a:t>chính</a:t>
            </a:r>
            <a:r>
              <a:rPr lang="en-US" sz="1400" dirty="0"/>
              <a:t>; residual </a:t>
            </a:r>
            <a:r>
              <a:rPr lang="en-US" sz="1400" dirty="0" err="1"/>
              <a:t>về</a:t>
            </a:r>
            <a:r>
              <a:rPr lang="en-US" sz="1400" dirty="0"/>
              <a:t> </a:t>
            </a:r>
            <a:r>
              <a:rPr lang="en-US" sz="1400" dirty="0" err="1"/>
              <a:t>sau</a:t>
            </a:r>
            <a:r>
              <a:rPr lang="en-US" sz="1400" dirty="0"/>
              <a:t> </a:t>
            </a:r>
            <a:r>
              <a:rPr lang="en-US" sz="1400" dirty="0" err="1"/>
              <a:t>có</a:t>
            </a:r>
            <a:r>
              <a:rPr lang="en-US" sz="1400" dirty="0"/>
              <a:t> entropy </a:t>
            </a:r>
            <a:r>
              <a:rPr lang="en-US" sz="1400" dirty="0" err="1"/>
              <a:t>thấp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</a:t>
            </a:r>
            <a:r>
              <a:rPr lang="en-US" sz="1400" dirty="0" err="1"/>
              <a:t>nên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cần</a:t>
            </a:r>
            <a:r>
              <a:rPr lang="en-US" sz="1400" dirty="0"/>
              <a:t> </a:t>
            </a:r>
            <a:r>
              <a:rPr lang="en-US" sz="1400" dirty="0" err="1"/>
              <a:t>cùng</a:t>
            </a:r>
            <a:r>
              <a:rPr lang="en-US" sz="1400" dirty="0"/>
              <a:t> </a:t>
            </a:r>
            <a:r>
              <a:rPr lang="en-US" sz="1400" dirty="0" err="1"/>
              <a:t>độ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giải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Balanced K-Means:</a:t>
            </a:r>
            <a:r>
              <a:rPr lang="en-US" sz="1400" dirty="0"/>
              <a:t> </a:t>
            </a:r>
            <a:r>
              <a:rPr lang="en-US" sz="1400" dirty="0" err="1"/>
              <a:t>ép</a:t>
            </a:r>
            <a:r>
              <a:rPr lang="en-US" sz="1400" dirty="0"/>
              <a:t> cluster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bố</a:t>
            </a:r>
            <a:r>
              <a:rPr lang="en-US" sz="1400" dirty="0"/>
              <a:t> </a:t>
            </a:r>
            <a:r>
              <a:rPr lang="en-US" sz="1400" dirty="0" err="1"/>
              <a:t>cân</a:t>
            </a:r>
            <a:r>
              <a:rPr lang="en-US" sz="1400" dirty="0"/>
              <a:t> </a:t>
            </a:r>
            <a:r>
              <a:rPr lang="en-US" sz="1400" dirty="0" err="1"/>
              <a:t>bằng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→ </a:t>
            </a:r>
            <a:r>
              <a:rPr lang="en-US" sz="1400" b="1" dirty="0" err="1"/>
              <a:t>tăng</a:t>
            </a:r>
            <a:r>
              <a:rPr lang="en-US" sz="1400" b="1" dirty="0"/>
              <a:t> codebook utilization</a:t>
            </a:r>
            <a:r>
              <a:rPr lang="en-US" sz="1400" dirty="0"/>
              <a:t>, </a:t>
            </a:r>
            <a:r>
              <a:rPr lang="en-US" sz="1400" dirty="0" err="1"/>
              <a:t>tránh</a:t>
            </a:r>
            <a:r>
              <a:rPr lang="en-US" sz="1400" dirty="0"/>
              <a:t> </a:t>
            </a:r>
            <a:r>
              <a:rPr lang="en-US" sz="1400" dirty="0" err="1"/>
              <a:t>nhiều</a:t>
            </a:r>
            <a:r>
              <a:rPr lang="en-US" sz="1400" dirty="0"/>
              <a:t> token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được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Multi-Granularity:</a:t>
            </a:r>
            <a:r>
              <a:rPr lang="en-US" sz="1400" dirty="0"/>
              <a:t> level </a:t>
            </a:r>
            <a:r>
              <a:rPr lang="en-US" sz="1400" dirty="0" err="1"/>
              <a:t>cuối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</a:t>
            </a:r>
            <a:r>
              <a:rPr lang="en-US" sz="1400" b="1" dirty="0"/>
              <a:t>hash </a:t>
            </a:r>
            <a:r>
              <a:rPr lang="en-US" sz="1400" b="1" dirty="0" err="1"/>
              <a:t>từ</a:t>
            </a:r>
            <a:r>
              <a:rPr lang="en-US" sz="1400" b="1" dirty="0"/>
              <a:t> business features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Account ID / Conversion Type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biệt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Ads semantic </a:t>
            </a:r>
            <a:r>
              <a:rPr lang="en-US" sz="1400" dirty="0" err="1"/>
              <a:t>giống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r>
              <a:rPr lang="en-US" sz="1400" dirty="0"/>
              <a:t> </a:t>
            </a:r>
            <a:r>
              <a:rPr lang="en-US" sz="1400" dirty="0" err="1"/>
              <a:t>nhưng</a:t>
            </a:r>
            <a:r>
              <a:rPr lang="en-US" sz="1400" dirty="0"/>
              <a:t> </a:t>
            </a:r>
            <a:r>
              <a:rPr lang="en-US" sz="1400" dirty="0" err="1"/>
              <a:t>mục</a:t>
            </a:r>
            <a:r>
              <a:rPr lang="en-US" sz="1400" dirty="0"/>
              <a:t> </a:t>
            </a:r>
            <a:r>
              <a:rPr lang="en-US" sz="1400" dirty="0" err="1"/>
              <a:t>tiêu</a:t>
            </a:r>
            <a:r>
              <a:rPr lang="en-US" sz="1400" dirty="0"/>
              <a:t> delivery </a:t>
            </a:r>
            <a:r>
              <a:rPr lang="en-US" sz="1400" dirty="0" err="1"/>
              <a:t>khác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endParaRPr lang="en-US" sz="1400" dirty="0"/>
          </a:p>
        </p:txBody>
      </p:sp>
      <p:pic>
        <p:nvPicPr>
          <p:cNvPr id="5" name="Picture 4" descr="深度剖析RQ-VAE：从向量量化到生成式推荐的语义ID技术- 石头开会- 博客园">
            <a:extLst>
              <a:ext uri="{FF2B5EF4-FFF2-40B4-BE49-F238E27FC236}">
                <a16:creationId xmlns:a16="http://schemas.microsoft.com/office/drawing/2014/main" id="{35F43364-B56A-8C07-5E20-57AE8047D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42" y="1841774"/>
            <a:ext cx="5593080" cy="3174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2885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764" y="1115793"/>
            <a:ext cx="9363456" cy="3446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LazyAR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—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Không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phải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mọi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decoder layer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đều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cần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autoregressive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Ý tưởng cốt lõi: chỉ inject token trước ở layer muộn; phần đầu được tính song song và reuse qua beam.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31507" y="464503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00489" y="4809855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B74646"/>
                </a:solidFill>
                <a:latin typeface="Aptos"/>
              </a:rPr>
              <a:t>Vanilla 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0489" y="5206817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Mỗi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step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chạy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qua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toàn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bộ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decoder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và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phụ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thuộc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token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trước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→ sequential cost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9303" y="464503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93894" y="4763911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 err="1">
                <a:solidFill>
                  <a:srgbClr val="368461"/>
                </a:solidFill>
                <a:latin typeface="Aptos"/>
              </a:rPr>
              <a:t>LazyAR</a:t>
            </a:r>
            <a:endParaRPr sz="1550" b="1" dirty="0">
              <a:solidFill>
                <a:srgbClr val="368461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393894" y="5102239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>
                <a:solidFill>
                  <a:srgbClr val="2B3341"/>
                </a:solidFill>
                <a:latin typeface="Aptos"/>
              </a:rPr>
              <a:t>K layer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đầu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không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phụ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thuộc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token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trước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→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chạy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song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song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, share qua beams.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Chỉ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L−K layer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sau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còn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autoregressive.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106" y="6296818"/>
            <a:ext cx="9646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dirty="0">
                <a:solidFill>
                  <a:srgbClr val="192C4F"/>
                </a:solidFill>
                <a:latin typeface="Aptos"/>
              </a:rPr>
              <a:t>Trong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thí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nghiệm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,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một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cấu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hình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K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phù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hợp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giữ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recommendation quality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và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gần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như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nhân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đôi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throughput.</a:t>
            </a:r>
          </a:p>
        </p:txBody>
      </p:sp>
    </p:spTree>
    <p:extLst>
      <p:ext uri="{BB962C8B-B14F-4D97-AF65-F5344CB8AC3E}">
        <p14:creationId xmlns:p14="http://schemas.microsoft.com/office/powerpoint/2010/main" val="22985204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GR4AD_Figur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53312"/>
            <a:ext cx="7543800" cy="42693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VSL + RSPO —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Tối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ưu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business value,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không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chỉ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“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đúng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item”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Ads trả về một ranked list; vì vậy per-item supervision chưa đủ để tối ưu doanh thu và thứ tự hiển thị.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1207008"/>
            <a:ext cx="3429000" cy="2313432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48472" y="138988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368461"/>
                </a:solidFill>
                <a:latin typeface="Aptos"/>
              </a:rPr>
              <a:t>VSL · Value-Aware Supervised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1933114"/>
            <a:ext cx="2834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Học SID </a:t>
            </a:r>
            <a:r>
              <a:rPr dirty="0" err="1"/>
              <a:t>bằng</a:t>
            </a:r>
            <a:r>
              <a:rPr dirty="0"/>
              <a:t> cross-entropy </a:t>
            </a:r>
            <a:r>
              <a:rPr dirty="0" err="1"/>
              <a:t>như</a:t>
            </a:r>
            <a:r>
              <a:rPr dirty="0"/>
              <a:t> </a:t>
            </a:r>
            <a:r>
              <a:rPr dirty="0" err="1"/>
              <a:t>bình</a:t>
            </a:r>
            <a:r>
              <a:rPr dirty="0"/>
              <a:t> </a:t>
            </a:r>
            <a:r>
              <a:rPr dirty="0" err="1"/>
              <a:t>thường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eCPM</a:t>
            </a:r>
            <a:r>
              <a:rPr dirty="0"/>
              <a:t> token </a:t>
            </a:r>
            <a:r>
              <a:rPr dirty="0" err="1"/>
              <a:t>để</a:t>
            </a:r>
            <a:r>
              <a:rPr dirty="0"/>
              <a:t> model </a:t>
            </a:r>
            <a:r>
              <a:rPr dirty="0" err="1"/>
              <a:t>học</a:t>
            </a:r>
            <a:r>
              <a:rPr dirty="0"/>
              <a:t> business value </a:t>
            </a:r>
            <a:r>
              <a:rPr dirty="0" err="1"/>
              <a:t>của</a:t>
            </a:r>
            <a:r>
              <a:rPr dirty="0"/>
              <a:t> candidate.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Sample weight </a:t>
            </a:r>
            <a:r>
              <a:rPr dirty="0" err="1"/>
              <a:t>phụ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 </a:t>
            </a:r>
            <a:r>
              <a:rPr dirty="0" err="1"/>
              <a:t>trị</a:t>
            </a:r>
            <a:r>
              <a:rPr dirty="0"/>
              <a:t> user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độ</a:t>
            </a:r>
            <a:r>
              <a:rPr dirty="0"/>
              <a:t> behavior.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675886"/>
            <a:ext cx="3429000" cy="273694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378188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685094"/>
                </a:solidFill>
                <a:latin typeface="Aptos"/>
              </a:rPr>
              <a:t>RSPO · List-wise Preference Optimization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4325112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VSL </a:t>
            </a:r>
            <a:r>
              <a:rPr dirty="0" err="1"/>
              <a:t>chủ</a:t>
            </a:r>
            <a:r>
              <a:rPr dirty="0"/>
              <a:t> </a:t>
            </a:r>
            <a:r>
              <a:rPr dirty="0" err="1"/>
              <a:t>yếu</a:t>
            </a:r>
            <a:r>
              <a:rPr dirty="0"/>
              <a:t> fit logged distribution;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trực</a:t>
            </a:r>
            <a:r>
              <a:rPr dirty="0"/>
              <a:t> </a:t>
            </a:r>
            <a:r>
              <a:rPr dirty="0" err="1"/>
              <a:t>tiếp</a:t>
            </a:r>
            <a:r>
              <a:rPr dirty="0"/>
              <a:t>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downstream objective.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RSPO </a:t>
            </a:r>
            <a:r>
              <a:rPr dirty="0" err="1"/>
              <a:t>dùng</a:t>
            </a:r>
            <a:r>
              <a:rPr dirty="0"/>
              <a:t> reward (</a:t>
            </a:r>
            <a:r>
              <a:rPr dirty="0" err="1"/>
              <a:t>eCPM</a:t>
            </a:r>
            <a:r>
              <a:rPr dirty="0"/>
              <a:t>)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candidate list </a:t>
            </a:r>
            <a:r>
              <a:rPr dirty="0" err="1"/>
              <a:t>và</a:t>
            </a:r>
            <a:r>
              <a:rPr dirty="0"/>
              <a:t> align objective </a:t>
            </a:r>
            <a:r>
              <a:rPr dirty="0" err="1"/>
              <a:t>với</a:t>
            </a:r>
            <a:r>
              <a:rPr dirty="0"/>
              <a:t> ranking/NDCG.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Cho </a:t>
            </a:r>
            <a:r>
              <a:rPr dirty="0" err="1"/>
              <a:t>phép</a:t>
            </a:r>
            <a:r>
              <a:rPr dirty="0"/>
              <a:t> controlled exploration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model </a:t>
            </a:r>
            <a:r>
              <a:rPr dirty="0" err="1"/>
              <a:t>gần</a:t>
            </a:r>
            <a:r>
              <a:rPr dirty="0"/>
              <a:t> distribution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89320"/>
            <a:ext cx="6492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>
                <a:solidFill>
                  <a:srgbClr val="192C4F"/>
                </a:solidFill>
                <a:latin typeface="Aptos"/>
              </a:rPr>
              <a:t>Mục tiêu cuối: sinh một ranked set có giá trị, không chỉ một tập candidate liên quan.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6442792"/>
            <a:ext cx="39319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GR4AD, §3.3–3.4 &amp; Fig.1 · arXiv:2602.22732v3</a:t>
            </a:r>
          </a:p>
        </p:txBody>
      </p:sp>
    </p:spTree>
    <p:extLst>
      <p:ext uri="{BB962C8B-B14F-4D97-AF65-F5344CB8AC3E}">
        <p14:creationId xmlns:p14="http://schemas.microsoft.com/office/powerpoint/2010/main" val="37459473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20E899-DFD9-21DC-F7B6-344553B3F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849" y="5396213"/>
            <a:ext cx="3447869" cy="1318303"/>
          </a:xfrm>
          <a:prstGeom prst="rect">
            <a:avLst/>
          </a:prstGeom>
        </p:spPr>
      </p:pic>
      <p:pic>
        <p:nvPicPr>
          <p:cNvPr id="40" name="Picture 39" descr="GR4AD_Figure4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18740"/>
            <a:ext cx="6583680" cy="408378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Production — Index freshness + Dynamic Beam Serving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829" y="685221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co-design cả model và serving để giữ chất lượng dưới latency / traffic budget thực tế.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57225" y="1266263"/>
            <a:ext cx="4297680" cy="379476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77265" y="1533808"/>
            <a:ext cx="3657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50" b="1" dirty="0">
                <a:solidFill>
                  <a:srgbClr val="406FB2"/>
                </a:solidFill>
                <a:latin typeface="Aptos"/>
              </a:rPr>
              <a:t>Các trick production </a:t>
            </a:r>
            <a:r>
              <a:rPr sz="1750" b="1" dirty="0" err="1">
                <a:solidFill>
                  <a:srgbClr val="406FB2"/>
                </a:solidFill>
                <a:latin typeface="Aptos"/>
              </a:rPr>
              <a:t>quan</a:t>
            </a:r>
            <a:r>
              <a:rPr sz="1750" b="1" dirty="0">
                <a:solidFill>
                  <a:srgbClr val="406FB2"/>
                </a:solidFill>
                <a:latin typeface="Aptos"/>
              </a:rPr>
              <a:t> </a:t>
            </a:r>
            <a:r>
              <a:rPr sz="1750" b="1" dirty="0" err="1">
                <a:solidFill>
                  <a:srgbClr val="406FB2"/>
                </a:solidFill>
                <a:latin typeface="Aptos"/>
              </a:rPr>
              <a:t>trọng</a:t>
            </a:r>
            <a:endParaRPr sz="1750" b="1" dirty="0">
              <a:solidFill>
                <a:srgbClr val="406FB2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849833" y="1927000"/>
            <a:ext cx="3657600" cy="2895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New ad: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compute UA-SID </a:t>
            </a:r>
            <a:r>
              <a:rPr dirty="0" err="1"/>
              <a:t>từ</a:t>
            </a:r>
            <a:r>
              <a:rPr dirty="0"/>
              <a:t> content </a:t>
            </a:r>
            <a:r>
              <a:rPr dirty="0" err="1"/>
              <a:t>rồi</a:t>
            </a:r>
            <a:r>
              <a:rPr dirty="0"/>
              <a:t> </a:t>
            </a:r>
            <a:r>
              <a:rPr dirty="0" err="1"/>
              <a:t>cập</a:t>
            </a:r>
            <a:r>
              <a:rPr dirty="0"/>
              <a:t> </a:t>
            </a:r>
            <a:r>
              <a:rPr dirty="0" err="1"/>
              <a:t>nhật</a:t>
            </a:r>
            <a:r>
              <a:rPr dirty="0"/>
              <a:t> index </a:t>
            </a:r>
            <a:r>
              <a:rPr dirty="0" err="1"/>
              <a:t>hai</a:t>
            </a:r>
            <a:r>
              <a:rPr dirty="0"/>
              <a:t> </a:t>
            </a:r>
            <a:r>
              <a:rPr dirty="0" err="1"/>
              <a:t>chiều</a:t>
            </a:r>
            <a:r>
              <a:rPr dirty="0"/>
              <a:t>; paper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tả</a:t>
            </a:r>
            <a:r>
              <a:rPr dirty="0"/>
              <a:t> refresh ở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giây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rebuild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index.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Dynamic Beam Width: </a:t>
            </a:r>
            <a:r>
              <a:rPr dirty="0"/>
              <a:t>beam </a:t>
            </a:r>
            <a:r>
              <a:rPr dirty="0" err="1"/>
              <a:t>tăng</a:t>
            </a:r>
            <a:r>
              <a:rPr dirty="0"/>
              <a:t> </a:t>
            </a:r>
            <a:r>
              <a:rPr dirty="0" err="1"/>
              <a:t>dần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level (</a:t>
            </a:r>
            <a:r>
              <a:rPr dirty="0" err="1"/>
              <a:t>vd</a:t>
            </a:r>
            <a:r>
              <a:rPr dirty="0"/>
              <a:t>. 128 → 256 → 512)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compute ở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bước</a:t>
            </a:r>
            <a:r>
              <a:rPr dirty="0"/>
              <a:t> </a:t>
            </a:r>
            <a:r>
              <a:rPr dirty="0" err="1"/>
              <a:t>đầu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Traffic-Aware Adaptive Beam Search: </a:t>
            </a:r>
            <a:r>
              <a:rPr dirty="0" err="1"/>
              <a:t>tự</a:t>
            </a:r>
            <a:r>
              <a:rPr dirty="0"/>
              <a:t> scale beam </a:t>
            </a:r>
            <a:r>
              <a:rPr dirty="0" err="1"/>
              <a:t>theo</a:t>
            </a:r>
            <a:r>
              <a:rPr dirty="0"/>
              <a:t> QPS / compute slack ở peak </a:t>
            </a:r>
            <a:r>
              <a:rPr dirty="0" err="1"/>
              <a:t>và</a:t>
            </a:r>
            <a:r>
              <a:rPr dirty="0"/>
              <a:t> off-peak.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cache </a:t>
            </a:r>
            <a:r>
              <a:rPr dirty="0" err="1"/>
              <a:t>và</a:t>
            </a:r>
            <a:r>
              <a:rPr dirty="0"/>
              <a:t> concurrency optimization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vòng</a:t>
            </a:r>
            <a:r>
              <a:rPr dirty="0"/>
              <a:t> </a:t>
            </a:r>
            <a:r>
              <a:rPr dirty="0" err="1"/>
              <a:t>realtime</a:t>
            </a:r>
            <a:r>
              <a:rPr dirty="0"/>
              <a:t> serving.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Kết quả — +4.28% revenue và +117% QPS so với GR-Base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829" y="685221"/>
            <a:ext cx="11064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Revenue đến từ learning optimization; throughput đến từ serving optimization — hai phần này bù cho nhau chứ không thay thế nhau.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06" y="1120000"/>
            <a:ext cx="5769544" cy="4400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950" y="1120000"/>
            <a:ext cx="4857644" cy="4400000"/>
          </a:xfrm>
          <a:prstGeom prst="rect">
            <a:avLst/>
          </a:prstGeom>
        </p:spPr>
      </p:pic>
      <p:sp>
        <p:nvSpPr>
          <p:cNvPr id="12" name="Callout Left"/>
          <p:cNvSpPr/>
          <p:nvPr/>
        </p:nvSpPr>
        <p:spPr>
          <a:xfrm>
            <a:off x="532406" y="5620000"/>
            <a:ext cx="5769544" cy="90000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txBody>
          <a:bodyPr lIns="182880" tIns="91440" rIns="182880" bIns="91440" rtlCol="0" anchor="ctr">
            <a:normAutofit fontScale="92500"/>
          </a:bodyPr>
          <a:lstStyle/>
          <a:p>
            <a:pPr algn="l"/>
            <a:r>
              <a:rPr sz="1150" b="1" dirty="0">
                <a:solidFill>
                  <a:srgbClr val="192C4F"/>
                </a:solidFill>
                <a:latin typeface="Aptos"/>
              </a:rPr>
              <a:t>Scale model còn dư địa: </a:t>
            </a:r>
            <a:r>
              <a:rPr sz="1150" b="0" dirty="0">
                <a:solidFill>
                  <a:srgbClr val="3F4855"/>
                </a:solidFill>
                <a:latin typeface="Aptos"/>
              </a:rPr>
              <a:t>0.03B → 0.32B cho +2.13% → +4.43% revenue, chưa bão hoà.</a:t>
            </a:r>
          </a:p>
          <a:p>
            <a:pPr algn="l"/>
            <a:r>
              <a:rPr sz="1150" b="1" dirty="0">
                <a:solidFill>
                  <a:srgbClr val="192C4F"/>
                </a:solidFill>
                <a:latin typeface="Aptos"/>
              </a:rPr>
              <a:t>Scale beam thì không: </a:t>
            </a:r>
            <a:r>
              <a:rPr sz="1150" b="0" dirty="0">
                <a:solidFill>
                  <a:srgbClr val="3F4855"/>
                </a:solidFill>
                <a:latin typeface="Aptos"/>
              </a:rPr>
              <a:t>128 → 1024 chỉ thêm +2.33% → +4.21% nhưng QPS rơi 200% → 30%.</a:t>
            </a:r>
          </a:p>
        </p:txBody>
      </p:sp>
      <p:sp>
        <p:nvSpPr>
          <p:cNvPr id="13" name="Callout Right"/>
          <p:cNvSpPr/>
          <p:nvPr/>
        </p:nvSpPr>
        <p:spPr>
          <a:xfrm>
            <a:off x="6801950" y="5620000"/>
            <a:ext cx="4857644" cy="90000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txBody>
          <a:bodyPr lIns="182880" tIns="91440" rIns="182880" bIns="91440" rtlCol="0" anchor="ctr">
            <a:normAutofit fontScale="92500"/>
          </a:bodyPr>
          <a:lstStyle/>
          <a:p>
            <a:pPr algn="l"/>
            <a:r>
              <a:rPr sz="1150" b="1" dirty="0">
                <a:solidFill>
                  <a:srgbClr val="192C4F"/>
                </a:solidFill>
                <a:latin typeface="Aptos"/>
              </a:rPr>
              <a:t>Learning đẩy revenue: </a:t>
            </a:r>
            <a:r>
              <a:rPr sz="1150" b="0" dirty="0">
                <a:solidFill>
                  <a:srgbClr val="3F4855"/>
                </a:solidFill>
                <a:latin typeface="Aptos"/>
              </a:rPr>
              <a:t>GR-Base +1.68% → UVR +4.01%, đổi lại −25% QPS.</a:t>
            </a:r>
          </a:p>
          <a:p>
            <a:pPr algn="l"/>
            <a:r>
              <a:rPr sz="1150" b="1" dirty="0">
                <a:solidFill>
                  <a:srgbClr val="192C4F"/>
                </a:solidFill>
                <a:latin typeface="Aptos"/>
              </a:rPr>
              <a:t>Serving lấy lại QPS: </a:t>
            </a:r>
            <a:r>
              <a:rPr sz="1150" b="0" dirty="0">
                <a:solidFill>
                  <a:srgbClr val="3F4855"/>
                </a:solidFill>
                <a:latin typeface="Aptos"/>
              </a:rPr>
              <a:t>+ DBS + LazyAR → +4.28% revenue và +117% QPS.</a:t>
            </a:r>
          </a:p>
        </p:txBody>
      </p:sp>
    </p:spTree>
    <p:extLst>
      <p:ext uri="{BB962C8B-B14F-4D97-AF65-F5344CB8AC3E}">
        <p14:creationId xmlns:p14="http://schemas.microsoft.com/office/powerpoint/2010/main" val="3429588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668</TotalTime>
  <Words>1309</Words>
  <Application>Microsoft Office PowerPoint</Application>
  <PresentationFormat>Widescreen</PresentationFormat>
  <Paragraphs>85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Generative Retrieval: TIGER → GR4AD → OneSearch-V2</dc:title>
  <dc:subject>Generative Retrieval: TIGER, GR4AD, OneSearch-V2, LightSAGE</dc:subject>
  <dc:creator>OpenAI</dc:creator>
  <cp:lastModifiedBy>HoangNam</cp:lastModifiedBy>
  <cp:revision>38</cp:revision>
  <dcterms:created xsi:type="dcterms:W3CDTF">2026-08-17T08:44:29Z</dcterms:created>
  <dcterms:modified xsi:type="dcterms:W3CDTF">2026-08-25T02:36:02Z</dcterms:modified>
</cp:coreProperties>
</file>