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A78D6"/>
                </a:solidFill>
                <a:latin typeface="Segoe UI"/>
              </a:rPr>
              <a:t>RESEARCH NOTES ·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Segoe UI"/>
              </a:rPr>
              <a:t>Thuật toán Generative Retrieval &amp; Semantic 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52514E"/>
                </a:solidFill>
                <a:latin typeface="Segoe UI"/>
              </a:rPr>
              <a:t>TIGER · GR4AD · CQ-SID · TSGR — luồng thuật toán từng bài và so sánh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Tổng hợp từ ghi chú đọc paper — hình lấy từ các bài gốc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Segoe UI"/>
              </a:rPr>
              <a:t>Cùng một pipeline, bốn lời giải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Khung so sánh dùng cho toàn bộ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Segoe U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2606040" cy="68580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1. Representation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606040" cy="91440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0" i="0">
                <a:solidFill>
                  <a:srgbClr val="1A1A1A"/>
                </a:solidFill>
                <a:latin typeface="Segoe UI"/>
              </a:rPr>
              <a:t>Item được biểu diễn</a:t>
            </a:r>
          </a:p>
          <a:p>
            <a:pPr algn="ctr"/>
            <a:r>
              <a:rPr sz="1000" b="0" i="0">
                <a:solidFill>
                  <a:srgbClr val="52514E"/>
                </a:solidFill>
                <a:latin typeface="Segoe UI"/>
              </a:rPr>
              <a:t>bằng vector nào?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39" y="1691640"/>
            <a:ext cx="237744" cy="201168"/>
          </a:xfrm>
          <a:prstGeom prst="rightArrow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29584" y="1463040"/>
            <a:ext cx="2606040" cy="68580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2. SID construction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2286000"/>
            <a:ext cx="2606040" cy="91440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0" i="0">
                <a:solidFill>
                  <a:srgbClr val="1A1A1A"/>
                </a:solidFill>
                <a:latin typeface="Segoe UI"/>
              </a:rPr>
              <a:t>Vector được nén thành</a:t>
            </a:r>
          </a:p>
          <a:p>
            <a:pPr algn="ctr"/>
            <a:r>
              <a:rPr sz="1000" b="0" i="0">
                <a:solidFill>
                  <a:srgbClr val="52514E"/>
                </a:solidFill>
                <a:latin typeface="Segoe UI"/>
              </a:rPr>
              <a:t>chuỗi token ra sao?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81344" y="1691640"/>
            <a:ext cx="237744" cy="201168"/>
          </a:xfrm>
          <a:prstGeom prst="rightArrow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19088" y="1463040"/>
            <a:ext cx="2606040" cy="68580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3. Decoding / serving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2286000"/>
            <a:ext cx="2606040" cy="91440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0" i="0">
                <a:solidFill>
                  <a:srgbClr val="1A1A1A"/>
                </a:solidFill>
                <a:latin typeface="Segoe UI"/>
              </a:rPr>
              <a:t>Model sinh SID và trả</a:t>
            </a:r>
          </a:p>
          <a:p>
            <a:pPr algn="ctr"/>
            <a:r>
              <a:rPr sz="1000" b="0" i="0">
                <a:solidFill>
                  <a:srgbClr val="52514E"/>
                </a:solidFill>
                <a:latin typeface="Segoe UI"/>
              </a:rPr>
              <a:t>candidate thế nào?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070848" y="1691640"/>
            <a:ext cx="237744" cy="201168"/>
          </a:xfrm>
          <a:prstGeom prst="rightArrow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308592" y="1463040"/>
            <a:ext cx="2606040" cy="68580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4. Training /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08592" y="2286000"/>
            <a:ext cx="2606040" cy="91440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0" i="0">
                <a:solidFill>
                  <a:srgbClr val="1A1A1A"/>
                </a:solidFill>
                <a:latin typeface="Segoe UI"/>
              </a:rPr>
              <a:t>Học bằng objective gì?</a:t>
            </a:r>
          </a:p>
          <a:p>
            <a:pPr algn="ctr"/>
            <a:r>
              <a:rPr sz="1000" b="0" i="0">
                <a:solidFill>
                  <a:srgbClr val="52514E"/>
                </a:solidFill>
                <a:latin typeface="Segoe UI"/>
              </a:rPr>
              <a:t>Business value ở đâu?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6576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Paper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Bài toán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Bối cảnh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Segoe UI"/>
                        </a:rPr>
                        <a:t>TIGER (NeurIPS 2023)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Sequential recommendation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Nền móng học thuật — thay ANN bằng sinh SID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Segoe UI"/>
                        </a:rPr>
                        <a:t>GR4AD (arXiv 2602)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Advertising recommendation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Kuaishou — hệ generative trung tâm, latency khắc nghiệt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Segoe UI"/>
                        </a:rPr>
                        <a:t>CQ-SID (arXiv 2605)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E-commerce search recall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Recall channel bổ sung trong multi-stage funnel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Segoe UI"/>
                        </a:rPr>
                        <a:t>TSGR (arXiv 2607)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Search retrieval + pre-ranking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Taobao — hợp nhất retrieval và pre-ranking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Segoe UI"/>
              </a:rPr>
              <a:t>Điểm chung: học p(SID | context) và sinh trực tiếp SID của item — Transformer đóng vai learned retrieval index, không cần ANN.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Segoe UI"/>
              </a:rPr>
              <a:t>Nền tảng: Residual Quantization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Thuật toán chung cả 4 bài xây lên trên — nén 1 vector thành chuỗi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Segoe U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965960" cy="86868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Embedding z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của item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06040" y="1920240"/>
            <a:ext cx="274320" cy="201168"/>
          </a:xfrm>
          <a:prstGeom prst="rightArrow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26080" y="1600200"/>
            <a:ext cx="2286000" cy="86868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0" i="0">
                <a:solidFill>
                  <a:srgbClr val="1A1A1A"/>
                </a:solidFill>
                <a:latin typeface="Segoe UI"/>
              </a:rPr>
              <a:t>Codebook 1</a:t>
            </a:r>
          </a:p>
          <a:p>
            <a:pPr algn="ctr"/>
            <a:r>
              <a:rPr sz="1000" b="0" i="0">
                <a:solidFill>
                  <a:srgbClr val="52514E"/>
                </a:solidFill>
                <a:latin typeface="Segoe UI"/>
              </a:rPr>
              <a:t>chọn centroid gần nhất → s₁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57800" y="1920240"/>
            <a:ext cx="274320" cy="201168"/>
          </a:xfrm>
          <a:prstGeom prst="rightArrow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15798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52514E"/>
                </a:solidFill>
                <a:latin typeface="Segoe UI"/>
              </a:rPr>
              <a:t>residual r₁ = z − c(s₁)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600200"/>
            <a:ext cx="2286000" cy="86868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0" i="0">
                <a:solidFill>
                  <a:srgbClr val="1A1A1A"/>
                </a:solidFill>
                <a:latin typeface="Segoe UI"/>
              </a:rPr>
              <a:t>Codebook 2</a:t>
            </a:r>
          </a:p>
          <a:p>
            <a:pPr algn="ctr"/>
            <a:r>
              <a:rPr sz="1000" b="0" i="0">
                <a:solidFill>
                  <a:srgbClr val="52514E"/>
                </a:solidFill>
                <a:latin typeface="Segoe UI"/>
              </a:rPr>
              <a:t>chọn centroid gần r₁ → s₂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09560" y="1920240"/>
            <a:ext cx="274320" cy="201168"/>
          </a:xfrm>
          <a:prstGeom prst="rightArrow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215798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52514E"/>
                </a:solidFill>
                <a:latin typeface="Segoe UI"/>
              </a:rPr>
              <a:t>residual r₂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00200"/>
            <a:ext cx="1828800" cy="86868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0" i="0">
                <a:solidFill>
                  <a:srgbClr val="1A1A1A"/>
                </a:solidFill>
                <a:latin typeface="Segoe UI"/>
              </a:rPr>
              <a:t>Codebook 3</a:t>
            </a:r>
          </a:p>
          <a:p>
            <a:pPr algn="ctr"/>
            <a:r>
              <a:rPr sz="1000" b="0" i="0">
                <a:solidFill>
                  <a:srgbClr val="52514E"/>
                </a:solidFill>
                <a:latin typeface="Segoe UI"/>
              </a:rPr>
              <a:t>→ s₃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104120" y="1920240"/>
            <a:ext cx="274320" cy="201168"/>
          </a:xfrm>
          <a:prstGeom prst="rightArrow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24160" y="1600200"/>
            <a:ext cx="1234440" cy="868680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SID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(s₁, s₂, s₃)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743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Segoe UI"/>
              </a:rPr>
              <a:t>Mỗi tầng chỉ mã hóa phần sai số còn lại của tầng trước → prefix mang nghĩa thô, token sau thêm chi tiết (coarse-to-fine).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52044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RQ-VAE (TIGER, CQ-SID)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RQ-KMeans (GR4AD, TSGR)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Segoe UI"/>
                        </a:rPr>
                        <a:t>Cách xây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Encoder + quantizer + decoder học cùng nhau (tái dựng đầu vào)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Embedding có sẵn → K-means tuần tự trên residual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Segoe UI"/>
                        </a:rPr>
                        <a:t>Ưu điểm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Học được representation lẫn codebook end-to-end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Đơn giản, rẻ, hợp catalogue lớn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A1A1A"/>
                          </a:solidFill>
                          <a:latin typeface="Segoe UI"/>
                        </a:rPr>
                        <a:t>Đánh đổi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Train đắt, khó cân bằng codebook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Segoe UI"/>
                        </a:rPr>
                        <a:t>Phụ thuộc hoàn toàn chất lượng embedding đầu vào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EB6834"/>
                </a:solidFill>
                <a:latin typeface="Segoe UI"/>
              </a:rPr>
              <a:t>Quantizer chỉ nén — không tạo nghĩa. Khác biệt giữa 4 bài nằm ở: cái gì đứng trước quantizer, ràng buộc gì khi nén, và ai tiêu thụ SID phía sau.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Segoe UI"/>
              </a:rPr>
              <a:t>TIGER — luồng 2 giai đoạn nối tiếp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Rajput et al., NeurIPS 2023 — Figure 2 của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Segoe UI"/>
              </a:rPr>
              <a:t>4</a:t>
            </a:r>
          </a:p>
        </p:txBody>
      </p:sp>
      <p:pic>
        <p:nvPicPr>
          <p:cNvPr id="6" name="Picture 5" descr="fig_ti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34440"/>
            <a:ext cx="9601200" cy="40099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9496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1A1A1A"/>
                </a:solidFill>
                <a:latin typeface="Segoe UI"/>
              </a:rPr>
              <a:t>(a) Content (title, price, brand, category) → Sentence-T5 → RQ-VAE → SID cho từng item; thêm token thứ 4 chống trùng. Chạy trước, cố định.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1A1A1A"/>
                </a:solidFill>
                <a:latin typeface="Segoe UI"/>
              </a:rPr>
              <a:t>(b) Transformer nhận user token + lịch sử SID → sinh từng token của SID next item → lookup ra sản phẩm. Đây mới là phần autoregressive.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Cold-start: item mới chỉ cần content là có SID; điểm yếu: có thể sinh SID không tồn tại (0.1–1.6% top-10).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Segoe UI"/>
              </a:rPr>
              <a:t>GR4AD (1/2) — biểu diễn quảng cáo và xây UA-SID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Kuaishou — Figure 2 của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Segoe UI"/>
              </a:rPr>
              <a:t>5</a:t>
            </a:r>
          </a:p>
        </p:txBody>
      </p:sp>
      <p:pic>
        <p:nvPicPr>
          <p:cNvPr id="6" name="Picture 5" descr="fig_gr4ad_u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035040" cy="37098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463040"/>
            <a:ext cx="47548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Segoe UI"/>
              </a:rPr>
              <a:t>Trái — UAE: MLLM đọc video + product + advertiser theo các prompt chỉ dẫn khác nhau → một vector z cho mỗi quảng cáo.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A1A"/>
                </a:solidFill>
                <a:latin typeface="Segoe UI"/>
              </a:rPr>
              <a:t>Behavior tập thể vào embedding: các cặp quảng cáo đồng xuất hiện trong log (Swing) được kéo lại gần nhau bằng contrastive learning.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A1A"/>
                </a:solidFill>
                <a:latin typeface="Segoe UI"/>
              </a:rPr>
              <a:t>Phải — MGMR RQ-KMeans: codebook to ở tầng đầu, nhỏ dần (16384 → 4096 → 1024) + balanced K-means để không code nào bị bỏ đói.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A1A"/>
                </a:solidFill>
                <a:latin typeface="Segoe UI"/>
              </a:rPr>
              <a:t>Tầng cuối không phải semantic: hash từ business info (account, conversion type) để 2 quảng cáo giống hệt nội dung vẫn phân biệt được.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EB6834"/>
                </a:solidFill>
                <a:latin typeface="Segoe UI"/>
              </a:rPr>
              <a:t>Behavior xuất hiện 2 lần: tập thể (chỉnh embedding trước khi nén) và cá nhân (làm context khi sinh — slide sau).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Segoe UI"/>
              </a:rPr>
              <a:t>GR4AD (2/2) — LazyAR sinh SID và học theo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Figure 1 của paper — kiến trúc + thuật toán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Segoe UI"/>
              </a:rPr>
              <a:t>6</a:t>
            </a:r>
          </a:p>
        </p:txBody>
      </p:sp>
      <p:pic>
        <p:nvPicPr>
          <p:cNvPr id="6" name="Picture 5" descr="fig_gr4ad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863840" cy="40731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1371600"/>
            <a:ext cx="30175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Segoe UI"/>
              </a:rPr>
              <a:t>LazyAR (giữa): 6/9 layer đầu chỉ đọc context — tính một lần, mọi beam dùng chung; token trước chỉ được trộn vào ở 3 layer cuối → throughput gần ×2.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1A1A1A"/>
                </a:solidFill>
                <a:latin typeface="Segoe UI"/>
              </a:rPr>
              <a:t>VSL (trái): học từ log — sinh SID + đoán bucket eCPM; mẫu có purchase / user giá trị cao được nhân trọng số.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1A1A1A"/>
                </a:solidFill>
                <a:latin typeface="Segoe UI"/>
              </a:rPr>
              <a:t>RSPO (phải): so ranking của model với ranking theo reward (eCPM), kéo lại gần nhau kiểu list-wise; chạy online liên tục.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EB6834"/>
                </a:solidFill>
                <a:latin typeface="Segoe UI"/>
              </a:rPr>
              <a:t>Co-design 4 tầng: representation → tokenization → decoder → learning/serving — không chỉ thay ID bằng SID.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Segoe UI"/>
              </a:rPr>
              <a:t>CQ-SID — sinh cụm thay vì sinh item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E-commerce search — Figure 1 của paper: 3 khối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Segoe UI"/>
              </a:rPr>
              <a:t>7</a:t>
            </a:r>
          </a:p>
        </p:txBody>
      </p:sp>
      <p:pic>
        <p:nvPicPr>
          <p:cNvPr id="6" name="Picture 5" descr="fig_cqs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486400" cy="4814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20840" y="1371600"/>
            <a:ext cx="49377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Segoe UI"/>
              </a:rPr>
              <a:t>Khối 1 — SID Construction: tầng 1 ép theo category nếu có; query–item InfoNCE đưa search intent vào embedding; cluster quá 50 item thì chia nhỏ nhưng giữ prefix.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1A1A1A"/>
                </a:solidFill>
                <a:latin typeface="Segoe UI"/>
              </a:rPr>
              <a:t>Khối 2 — Query2SID: Qwen học dần theo 3 nấc SFT: item title → SID, query → SID, rồi user + query → SID (cá nhân hóa).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1A1A1A"/>
                </a:solidFill>
                <a:latin typeface="Segoe UI"/>
              </a:rPr>
              <a:t>Khối 3 — EG-GRPO: RL với reward theo hành vi thật (purchase/click 1.0, exposure 0.5, valid 0.1); chèn SID thật từ log vào nhóm sinh để reward không bị toàn số 0.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1A1A1A"/>
                </a:solidFill>
                <a:latin typeface="Segoe UI"/>
              </a:rPr>
              <a:t>Vì sao cụm rẻ: 1 SID mở ~30 item → ~34 beam là phủ 1.000 candidate; tra bảng SID → items, không cần ANN.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EB6834"/>
                </a:solidFill>
                <a:latin typeface="Segoe UI"/>
              </a:rPr>
              <a:t>Collision có kiểm soát là công cụ thiết kế — đổi độ chi tiết lấy recall rộng và beam rẻ.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Segoe UI"/>
              </a:rPr>
              <a:t>TSGR — value nằm ngay trong cách đánh số SID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Taobao — Figure 1 của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Segoe UI"/>
              </a:rPr>
              <a:t>8</a:t>
            </a:r>
          </a:p>
        </p:txBody>
      </p:sp>
      <p:pic>
        <p:nvPicPr>
          <p:cNvPr id="6" name="Picture 5" descr="fig_ts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8138160" cy="43483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15400" y="1325880"/>
            <a:ext cx="28346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Segoe UI"/>
              </a:rPr>
              <a:t>(a) Xây SID: category prior → cluster prior → RQ-KMeans trên phần residual; token cuối c₃ là VỊ TRÍ của item trong bảng xếp hạng của cluster.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1A1A1A"/>
                </a:solidFill>
                <a:latin typeface="Segoe UI"/>
              </a:rPr>
              <a:t>Mỗi cluster có 4 bảng sort tính sẵn: theo tổng click + theo 3 từ khóa đại diện — query khớp từ nào thì dùng bảng đó (parallel SID).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1A1A1A"/>
                </a:solidFill>
                <a:latin typeface="Segoe UI"/>
              </a:rPr>
              <a:t>(b) Qwen sinh (c₁,c₂,c₃) bằng beam search; VRM lấy side-info của candidate + hidden states → chấm điểm PV × CTR để re-rank.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EB6834"/>
                </a:solidFill>
                <a:latin typeface="Segoe UI"/>
              </a:rPr>
              <a:t>Cùng một item có nhiều "địa chỉ" tùy intent — item không bị nhân bản, chỉ có nhiều đường đến nó.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Segoe UI"/>
              </a:rPr>
              <a:t>Toàn cảnh: bốn lời giải trên một bảng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Segoe UI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TIGER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GR4AD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CQ-SID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TSGR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A1A1A"/>
                          </a:solidFill>
                          <a:latin typeface="Segoe UI"/>
                        </a:rPr>
                        <a:t>Vector đem nén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Content thuần (Sentence-T5)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Content + co-occurrence behavior (MLLM)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Content + query intent (InfoNCE)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Cluster embedding − category (prior, không học)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A1A1A"/>
                          </a:solidFill>
                          <a:latin typeface="Segoe UI"/>
                        </a:rPr>
                        <a:t>1 SID đại diện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1 item (+ suffix chống trùng)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1 ad (hash business tầng cuối)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1 cụm ≤ 50 item (chủ đích)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Cụm + vị trí xếp hạng theo query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A1A1A"/>
                          </a:solidFill>
                          <a:latin typeface="Segoe UI"/>
                        </a:rPr>
                        <a:t>Sinh &amp; serving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Transformer nhỏ + beam search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LazyAR: 2/3 layer dùng chung beam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Beam ít nhờ cụm; tra bảng SID→items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Beam + VRM re-rank (PV × CTR)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A1A1A"/>
                          </a:solidFill>
                          <a:latin typeface="Segoe UI"/>
                        </a:rPr>
                        <a:t>Business value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Không trọng tâm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eCPM trong loss + RL list-wise (RSPO)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Reward hành vi + expert injection (EG-GRPO)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Trong cách đánh số c₃ + VRM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A1A1A"/>
                          </a:solidFill>
                          <a:latin typeface="Segoe UI"/>
                        </a:rPr>
                        <a:t>Vai trò hệ thống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Retrieval nghiên cứu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Hệ generative trung tâm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Recall channel bổ sung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Segoe UI"/>
                        </a:rPr>
                        <a:t>Retrieval + pre-ranking hợp nhất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Công thức hội tụ: representation phù hợp bài toán → residual quantization (có ràng buộc) → SID làm không gian đích → model sinh trên SID → lớp value/ranking phía sau.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EB6834"/>
                </a:solidFill>
                <a:latin typeface="Segoe UI"/>
              </a:rPr>
              <a:t>Behavior / query / value bơm vào ở 3 điểm: trước khi nén (chỉnh embedding) · trong khi nén (ràng buộc codebook) · sau khi nén (cách đánh số + re-rank).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Segoe UI"/>
              </a:rPr>
              <a:t>Những điểm các paper chưa công bố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Đánh dấu trong ghi chú — tránh tự điền bằng giả định khi tái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Segoe U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Paper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Khoảng trống / điểm cần thận trọng</a:t>
                      </a:r>
                    </a:p>
                  </a:txBody>
                  <a:tcPr marL="54864" marR="54864" marT="18288" marB="18288"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Segoe UI"/>
                        </a:rPr>
                        <a:t>TIGER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Token đầu ~ coarse category chỉ là quan sát định tính qua visualization — không phải nhãn gán cứng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Segoe UI"/>
                        </a:rPr>
                        <a:t>GR4AD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Reward system và cấu hình online VSL–RSPO ở mức mô tả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Segoe UI"/>
                        </a:rPr>
                        <a:t>CQ-SID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Feature đầu vào x và kiến trúc Item/Query Encoder không công bố — implementation gap rõ ràng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Segoe UI"/>
                        </a:rPr>
                        <a:t>TSGR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Segoe UI"/>
                        </a:rPr>
                        <a:t>Nguồn item embedding, công thức merge 2 tầng đầu, lý do codebook = 4, định nghĩa nhãn PV: đều không công bố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Bốn câu một dòng để nhớ: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   – </a:t>
            </a:r>
            <a:r>
              <a:rPr sz="1500" b="0" i="0">
                <a:solidFill>
                  <a:srgbClr val="1A1A1A"/>
                </a:solidFill>
                <a:latin typeface="Segoe UI"/>
              </a:rPr>
              <a:t>TIGER: content → SID; user + SID history → next SID.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   – </a:t>
            </a:r>
            <a:r>
              <a:rPr sz="1500" b="0" i="0">
                <a:solidFill>
                  <a:srgbClr val="1A1A1A"/>
                </a:solidFill>
                <a:latin typeface="Segoe UI"/>
              </a:rPr>
              <a:t>GR4AD: co-design representation → tokenization → decoder → learning, không chỉ thay ID bằng SID.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   – </a:t>
            </a:r>
            <a:r>
              <a:rPr sz="1500" b="0" i="0">
                <a:solidFill>
                  <a:srgbClr val="1A1A1A"/>
                </a:solidFill>
                <a:latin typeface="Segoe UI"/>
              </a:rPr>
              <a:t>CQ-SID: sinh cụm thay vì sinh item — collision có kiểm soát là một công cụ.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   – </a:t>
            </a:r>
            <a:r>
              <a:rPr sz="1500" b="0" i="0">
                <a:solidFill>
                  <a:srgbClr val="1A1A1A"/>
                </a:solidFill>
                <a:latin typeface="Segoe UI"/>
              </a:rPr>
              <a:t>TSGR: value nằm ngay trong cách đánh số token cuối; side-info vào sau beam qua VRM.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52514E"/>
                </a:solidFill>
                <a:latin typeface="Segoe UI"/>
              </a:rPr>
              <a:t>Còn đọc tiếp: TSGR Section 3.3 (training pipeline).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1612</Words>
  <Application>Microsoft Office PowerPoint</Application>
  <PresentationFormat>Widescreen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HoangNam</cp:lastModifiedBy>
  <cp:revision>1</cp:revision>
  <dcterms:created xsi:type="dcterms:W3CDTF">2013-01-27T09:14:16Z</dcterms:created>
  <dcterms:modified xsi:type="dcterms:W3CDTF">2026-08-03T04:06:14Z</dcterms:modified>
  <cp:category/>
</cp:coreProperties>
</file>